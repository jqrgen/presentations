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briefly: informatics and the School of Entrepreneurship at NTNU Norway in Trondheim, and you teach Bitcoin and Nexa blockchain at the University of Exeter. For this audience the NTNU Norway link matters: the environmental research on slide 6 comes from your own university. Opening. This deck is written for a sceptical audience. The first content slide concedes the criticism before answering it. Sources for every number are in the notes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first. Energy: Cambridge CBECI live estimate 138 TWh/yr, Digiconomist ~204 TWh/yr; Norway's national consumption is about 140 TWh/yr. E-waste: de Vries &amp; Stoll (2021), 30.7 kt/yr, ASIC lifespan 1.29 years, 272 g per transaction. Financialization: Ethereum's 72M ETH genesis allocation and stake-weighted rewards; NFT minting on Ethereum L1 historically cost tens of dollars in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from the Medium article 'Nexa is 13,000x more energy efficient than Bitcoin' (Sept 2026): kWh per tx = 4,376 / TPS at 138 TWh/yr. Bitcoin 7.5 TPS -&gt; 580 kWh; busiest day 10.3 TPS -&gt; 425 kWh. Nexa 42,000 TPS is a benchmark on today's hardware; 100,000 with Blitz is a projection. Be explicit that this is a like-for-like capacity comparison at equal network power. Sources: Cambridge CBECI, Digiconomist, Blockchair.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reproduced from the interactive artifact 'The Denominator Chart' (claude.ai/artifact/QTRwhPcMUUQ6PwhibYYbQ2), which also lets you toggle to Digiconomist's 204 TWh/yr. How to read it: one numerator, miners burn whatever the block reward pays for, so network electricity is the same for both lines. Bitcoin's denominator is stuck: throughput has sat near 7 TPS since 2010 and the protocol caps it at 7 to 14, so extra demand lengthens the queue instead of adding transactions. Nexa's denominator grows: the same joules divided by 42,000 TPS are 5,600x thinner than Bitcoin today, and 13,000x at 100,000 TPS with Blitz. That ratio does not depend on which electricity estimate you believe. Bitcoin's busiest day ever, 10.3 TPS, would sit at 425 kWh per transaction; its theoretical 14 TPS ceiling at 313. Sources: Cambridge CBECI, Digiconomist, Blockchair,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proof-of-work energy follows the coin's value, not its usage, and that applies to Nexa as much as to Bitcoin. If Nexa were as valuable as Bitcoin, its miners would plausibly spend as much on electricity. The claim is not that Nexa is small, it is that the same electricity does thousands of times more work. Bitcoin: CBECI Aug 2026 estimate 16.09 GW / 141 TWh per year. Norway consumes ~140 TWh/yr = ~16 GW average. Ethereum: ethereum.org, ~0.0026 TWh/yr = ~0.3 MW average. Nexa today: network hashrate 2.5 to 4.8 TH/s (2Miners, Kryptex, 2026); an RTX 4090 does ~203 MH/s at ~306 W. 4.84 TH/s / 0.66 MH/W = ~7 MW; older cards are less efficient, hence 5 to 15 MW.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slide: the organisers' objection is environmental, so the answer should come from Norwegian environmental research, not from crypto. Borgelt J., Gilad D., May R., Verones F. (2026), Cleaner Energy Systems vol. 13, NTNU Norway Industrial Ecology Programme: six scenarios for Norway's electricity build-out to 2050; habitat loss up to +28%; wind has the largest potential for new habitat loss, the transmission grid the second largest; quote from the NTNU Norway press release (May 2026): the most effective way to substantially reduce biodiversity impacts is to lower electricity demand through energy efficiency measures. Hertwich E.G., Gibon T. et al. (2014), PNAS 112(20): 6277-6282, published online Oct 2014, NTNU Norway: global LCA of electricity supply to 2050; low-carbon technologies have far lower impacts than fossil, but non-zero land, material and emission footprints. HighEFF (FME centre led by SINTEF Energy with NTNU Norway), NTNU Norway Energy Transition Week 2024: EU 'energy efficiency first' principle; Norway's COP28 pledge to put energy efficiency as the first fuel at the core of policymaking; director Petter Røkke's 'conflict-free measure' quote. Supporting: Sandberg et al. (SINTEF/NTNU Norway) estimate 12.7 TWh (2030) to 21.3 TWh (2050) of savings potential in Norwegian buildings; the Energy Commission (NOU 2023:3, 'Mer av alt – raskere') calls efficiency the fastest, cheapest and least nature-destructive way to close the power gap. The tie-in: at equal electricity, Nexa does thousands of times more payments than Bitcoin, which is exactly the kind of demand reduction per unit of value these researchers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E-waste figures: de Vries &amp; Stoll, 'Bitcoin's growing e-waste problem', Resources, Conservation &amp; Recycling (2021). NexaPoW mixes SHA-256 with Schnorr signature creation, deliberately so that any specialised hardware also accelerates signature validation (spec.nexa.org/mining/NexaPOW). Blitz: FPGA signature-verification engine announced Nov 2024, in development and testing through 2026 (Nexa July 2026 newsletter). Honest caveat: GPU mining still consumes hardware; the point is reuse, not zero footprint.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 nexa.org, 'Nexa was 100% fair launched, with no team coins, no premine, and no VCs, and 100% of its supply will be mined via Proof of Work.' Launch date 21 June 2022. Ethereum: 72M ETH at genesis (about 60M sold in the 2014 crowdsale, 12M to the foundation and early contributors); circulating supply ~120M ETH, so roughly 60%. Bitcoin: estimates of ~1M BTC mined by Satoshi in 2009-2010.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42,000 TPS is a Nexa benchmark; nexa.org states '&gt;60,000 TPS'. 100,000 with Blitz is a projection. Ethereum: daily average mainnet TPS 25.78 in Q1 2026 (ethereum.org, 'Building on Ethereum in 2026'); gas limit 60M, with plans to raise it further. Post-quantum signature sizes from the article: Schnorr 64 bytes, Falcon 666, Dilithium 2,420.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 figures from explorer.nexa.org on 15 Sept 2026: the network fee rate is 1 satoshi per byte and a simple transaction is 250 to 320 bytes, so it pays 2.5 to 3.2 NEXA (100 satoshis = 1 NEXA). At the explorer's rate of $0.0000013 per NEXA that is about $0.000004, or roughly 0.004 øre. Update the price before presenting. nexa.org: 'confirms in under two seconds with near-zero fees', 'under $0.0001 per transaction'. Zero-conf with double-spend proofs is Bitcoin Unlimited technology carried into Nexa. Vipps reference: Norway is close to cashless; the point is that the user experience Norwegians expect is already the baseline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spec.nexa.org/tokens/grouptokens: 'Groups implement native tokens; that is, the tokens are a fundamental primitive in the blockchain rather than implemented as a smart contract or in a layer 2 data-carrier protocol.' Address the NFT critique directly: the speculation the organisers describe is a product of scarcity plus high minting cost plus marketing. Nexa removes the cost and the contract risk; whether an item is speculative is then up to the game designer, not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CAPD is unique to Nexa: a decentralised, proof-of-work-rate-limited, ephemeral message bus on the P2P network (spec: spec.nexa.org/network/capd). Open outcry: the trading-floor model where offers are called out publicly and anyone can take them. Mechanics: the offer is a partially signed transaction; the advertised summary (which token for which) is only indicative, the half-signed transaction is authoritative, so a lying advertisement is harmless: the taker gets exactly what the transaction says or it is invalid. Messages carry a create time and an expiration, relay priority decays to zero after about 600 seconds, and a rescind hash lets the sender withdraw an offer early. Uses: token and NFT marketplaces without a marketplace operator, in-game item trading, atomic swaps, multisig wallet formation and signing rounds. Contrast: Bitcoin has no discovery layer, so trading means centralised exchanges; Ethereum needs an on-chain DEX contract and pays gas for every order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nexa.org: 'Native on-chain programmability without EVM complexity', 'No EVM overhead'. The developer stack: Wally wallet, TDPP payment protocol, nexid identity, CAPD messaging, NexaJS and libnexakotlin. Keep this slide short for a non-developer audience; expand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SSB: 98% of Norway's electricity from hydro and wind (late 2025); normal annual production ~157 TWh, consumption ~140 TWh. June 2025: the government announced a temporary ban on new proof-of-work mining data centres, with a mandatory data-centre registry; officials have hinted it may become permanent. Be honest: the ban applies to PoW mining generally, so a Nexa farm would be covered too. The point is that Nexa's network does not depend on farms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answer to the organisers' three themes: energy and e-waste, who benefits, and NFT speculation. Every figure appears earlier in the deck with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answers to the three concerns. If challenged on the 13,000x figure: it is a capacity comparison at equal network power, 5,600x on today's benchmark and 13,000x with Blitz; the floor is 1,000x because Bitcoin cannot exceed ~14 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0080"/>
            <a:ext cx="2377440" cy="547296"/>
          </a:xfrm>
          <a:prstGeom prst="rect">
            <a:avLst/>
          </a:prstGeom>
        </p:spPr>
      </p:pic>
      <p:pic>
        <p:nvPicPr>
          <p:cNvPr id="3" name="Image 1" descr="preencoded.png">    </p:cNvPr>
          <p:cNvPicPr>
            <a:picLocks noChangeAspect="1"/>
          </p:cNvPicPr>
          <p:nvPr/>
        </p:nvPicPr>
        <p:blipFill>
          <a:blip r:embed="rId2"/>
          <a:stretch>
            <a:fillRect/>
          </a:stretch>
        </p:blipFill>
        <p:spPr>
          <a:xfrm>
            <a:off x="7874991" y="1508760"/>
            <a:ext cx="3402304" cy="3291840"/>
          </a:xfrm>
          <a:prstGeom prst="rect">
            <a:avLst/>
          </a:prstGeom>
        </p:spPr>
      </p:pic>
      <p:sp>
        <p:nvSpPr>
          <p:cNvPr id="4" name="Text 0"/>
          <p:cNvSpPr txBox="1"/>
          <p:nvPr/>
        </p:nvSpPr>
        <p:spPr>
          <a:xfrm>
            <a:off x="548640" y="2103120"/>
            <a:ext cx="7223760" cy="18288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Sound money at internet scale</a:t>
            </a:r>
            <a:endParaRPr lang="en-US" sz="4000" dirty="0"/>
          </a:p>
        </p:txBody>
      </p:sp>
      <p:sp>
        <p:nvSpPr>
          <p:cNvPr id="5" name="Text 1"/>
          <p:cNvSpPr txBox="1"/>
          <p:nvPr/>
        </p:nvSpPr>
        <p:spPr>
          <a:xfrm>
            <a:off x="548640" y="4114800"/>
            <a:ext cx="7223760" cy="457200"/>
          </a:xfrm>
          <a:prstGeom prst="rect">
            <a:avLst/>
          </a:prstGeom>
          <a:noFill/>
          <a:ln/>
        </p:spPr>
        <p:txBody>
          <a:bodyPr wrap="square" lIns="0" tIns="0" rIns="0" bIns="0" rtlCol="0" anchor="ctr"/>
          <a:lstStyle/>
          <a:p>
            <a:pPr indent="0" marL="0">
              <a:buNone/>
            </a:pPr>
            <a:r>
              <a:rPr lang="en-US" sz="2000" dirty="0">
                <a:solidFill>
                  <a:srgbClr val="E4E4E7"/>
                </a:solidFill>
                <a:latin typeface="Calibri" pitchFamily="34" charset="0"/>
                <a:ea typeface="Calibri" pitchFamily="34" charset="-122"/>
                <a:cs typeface="Calibri" pitchFamily="34" charset="-120"/>
              </a:rPr>
              <a:t>What makes Nexa different from Bitcoin and Ethereum</a:t>
            </a:r>
            <a:endParaRPr lang="en-US" sz="2000" dirty="0"/>
          </a:p>
        </p:txBody>
      </p:sp>
      <p:sp>
        <p:nvSpPr>
          <p:cNvPr id="6" name="Text 2"/>
          <p:cNvSpPr txBox="1"/>
          <p:nvPr/>
        </p:nvSpPr>
        <p:spPr>
          <a:xfrm>
            <a:off x="548640" y="4617720"/>
            <a:ext cx="7223760" cy="365760"/>
          </a:xfrm>
          <a:prstGeom prst="rect">
            <a:avLst/>
          </a:prstGeom>
          <a:noFill/>
          <a:ln/>
        </p:spPr>
        <p:txBody>
          <a:bodyPr wrap="square" lIns="0" tIns="0" rIns="0" bIns="0" rtlCol="0" anchor="ctr"/>
          <a:lstStyle/>
          <a:p>
            <a:pPr indent="0" marL="0">
              <a:buNone/>
            </a:pPr>
            <a:r>
              <a:rPr lang="en-US" sz="1400" dirty="0">
                <a:solidFill>
                  <a:srgbClr val="A1A1AA"/>
                </a:solidFill>
                <a:latin typeface="Calibri" pitchFamily="34" charset="0"/>
                <a:ea typeface="Calibri" pitchFamily="34" charset="-122"/>
                <a:cs typeface="Calibri" pitchFamily="34" charset="-120"/>
              </a:rPr>
              <a:t>Norway · 2026</a:t>
            </a:r>
            <a:endParaRPr lang="en-US" sz="1400" dirty="0"/>
          </a:p>
        </p:txBody>
      </p:sp>
      <p:sp>
        <p:nvSpPr>
          <p:cNvPr id="7" name="Text 3"/>
          <p:cNvSpPr txBox="1"/>
          <p:nvPr/>
        </p:nvSpPr>
        <p:spPr>
          <a:xfrm>
            <a:off x="548640" y="5212080"/>
            <a:ext cx="7223760" cy="365760"/>
          </a:xfrm>
          <a:prstGeom prst="rect">
            <a:avLst/>
          </a:prstGeom>
          <a:noFill/>
          <a:ln/>
        </p:spPr>
        <p:txBody>
          <a:bodyPr wrap="square" lIns="0" tIns="0" rIns="0" bIns="0" rtlCol="0" anchor="ctr"/>
          <a:lstStyle/>
          <a:p>
            <a:pPr indent="0" marL="0">
              <a:buNone/>
            </a:pPr>
            <a:r>
              <a:rPr lang="en-US" sz="1600" b="1" dirty="0">
                <a:solidFill>
                  <a:srgbClr val="F2CD3A"/>
                </a:solidFill>
                <a:latin typeface="Calibri" pitchFamily="34" charset="0"/>
                <a:ea typeface="Calibri" pitchFamily="34" charset="-122"/>
                <a:cs typeface="Calibri" pitchFamily="34" charset="-120"/>
              </a:rPr>
              <a:t>Jørgen S. Notland</a:t>
            </a:r>
            <a:endParaRPr lang="en-US" sz="1600" dirty="0"/>
          </a:p>
        </p:txBody>
      </p:sp>
      <p:sp>
        <p:nvSpPr>
          <p:cNvPr id="8" name="Text 4"/>
          <p:cNvSpPr txBox="1"/>
          <p:nvPr/>
        </p:nvSpPr>
        <p:spPr>
          <a:xfrm>
            <a:off x="548640" y="5577840"/>
            <a:ext cx="7223760" cy="640080"/>
          </a:xfrm>
          <a:prstGeom prst="rect">
            <a:avLst/>
          </a:prstGeom>
          <a:noFill/>
          <a:ln/>
        </p:spPr>
        <p:txBody>
          <a:bodyPr wrap="square" lIns="0" tIns="0" rIns="0" bIns="0" rtlCol="0" anchor="t"/>
          <a:lstStyle/>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Informatics and the School of Entrepreneurship, NTNU Norway</a:t>
            </a:r>
            <a:endParaRPr lang="en-US" sz="1300" dirty="0"/>
          </a:p>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Teaches Bitcoin and Nexa blockchain at the University of Exeter</a:t>
            </a:r>
            <a:endParaRPr lang="en-US" sz="1300" dirty="0"/>
          </a:p>
        </p:txBody>
      </p:sp>
      <p:pic>
        <p:nvPicPr>
          <p:cNvPr id="10" name="Image 2" descr="preencoded.png">    </p:cNvPr>
          <p:cNvPicPr>
            <a:picLocks noChangeAspect="1"/>
          </p:cNvPicPr>
          <p:nvPr/>
        </p:nvPicPr>
        <p:blipFill>
          <a:blip r:embed="rId3"/>
          <a:stretch>
            <a:fillRect/>
          </a:stretch>
        </p:blipFill>
        <p:spPr>
          <a:xfrm>
            <a:off x="548640" y="6355080"/>
            <a:ext cx="256032" cy="246888"/>
          </a:xfrm>
          <a:prstGeom prst="rect">
            <a:avLst/>
          </a:prstGeom>
        </p:spPr>
      </p:pic>
      <p:sp>
        <p:nvSpPr>
          <p:cNvPr id="11" name="Text 5"/>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12" name="Text 6"/>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The critique of crypto is mostly right</a:t>
            </a:r>
            <a:endParaRPr lang="en-US" sz="3000" dirty="0"/>
          </a:p>
        </p:txBody>
      </p:sp>
      <p:sp>
        <p:nvSpPr>
          <p:cNvPr id="3" name="Shape 1"/>
          <p:cNvSpPr/>
          <p:nvPr/>
        </p:nvSpPr>
        <p:spPr>
          <a:xfrm>
            <a:off x="548640" y="1691640"/>
            <a:ext cx="3515258" cy="3383280"/>
          </a:xfrm>
          <a:prstGeom prst="roundRect">
            <a:avLst>
              <a:gd name="adj" fmla="val 3243"/>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Energy</a:t>
            </a:r>
            <a:endParaRPr lang="en-US" sz="1800" dirty="0"/>
          </a:p>
        </p:txBody>
      </p:sp>
      <p:sp>
        <p:nvSpPr>
          <p:cNvPr id="7" name="Text 4"/>
          <p:cNvSpPr txBox="1"/>
          <p:nvPr/>
        </p:nvSpPr>
        <p:spPr>
          <a:xfrm>
            <a:off x="822960"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 burns about 140 TWh a year, roughly Norway's entire electricity consumption, to process around 7 transactions per second.</a:t>
            </a:r>
            <a:endParaRPr lang="en-US" sz="1500" dirty="0"/>
          </a:p>
        </p:txBody>
      </p:sp>
      <p:sp>
        <p:nvSpPr>
          <p:cNvPr id="8" name="Shape 5"/>
          <p:cNvSpPr/>
          <p:nvPr/>
        </p:nvSpPr>
        <p:spPr>
          <a:xfrm>
            <a:off x="4338218" y="1691640"/>
            <a:ext cx="3515258" cy="3383280"/>
          </a:xfrm>
          <a:prstGeom prst="roundRect">
            <a:avLst>
              <a:gd name="adj" fmla="val 3243"/>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E-waste</a:t>
            </a:r>
            <a:endParaRPr lang="en-US" sz="1800" dirty="0"/>
          </a:p>
        </p:txBody>
      </p:sp>
      <p:sp>
        <p:nvSpPr>
          <p:cNvPr id="12" name="Text 8"/>
          <p:cNvSpPr txBox="1"/>
          <p:nvPr/>
        </p:nvSpPr>
        <p:spPr>
          <a:xfrm>
            <a:off x="4612538"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 ASICs do one job, are obsolete after about 1.3 years, and generate around 30,700 tonnes of electronic scrap a year.</a:t>
            </a:r>
            <a:endParaRPr lang="en-US" sz="1500" dirty="0"/>
          </a:p>
        </p:txBody>
      </p:sp>
      <p:sp>
        <p:nvSpPr>
          <p:cNvPr id="13" name="Shape 9"/>
          <p:cNvSpPr/>
          <p:nvPr/>
        </p:nvSpPr>
        <p:spPr>
          <a:xfrm>
            <a:off x="8127797" y="1691640"/>
            <a:ext cx="3515258" cy="3383280"/>
          </a:xfrm>
          <a:prstGeom prst="roundRect">
            <a:avLst>
              <a:gd name="adj" fmla="val 3243"/>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627EEA"/>
          </a:solidFill>
          <a:ln w="12700">
            <a:solidFill>
              <a:srgbClr val="627EE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Financialization</a:t>
            </a:r>
            <a:endParaRPr lang="en-US" sz="1800" dirty="0"/>
          </a:p>
        </p:txBody>
      </p:sp>
      <p:sp>
        <p:nvSpPr>
          <p:cNvPr id="17" name="Text 12"/>
          <p:cNvSpPr txBox="1"/>
          <p:nvPr/>
        </p:nvSpPr>
        <p:spPr>
          <a:xfrm>
            <a:off x="8402117"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Premines, ICOs and staking yields hand the gains to insiders. NFT gas auctions turn a simple item into a speculative market.</a:t>
            </a:r>
            <a:endParaRPr lang="en-US" sz="1500" dirty="0"/>
          </a:p>
        </p:txBody>
      </p:sp>
      <p:sp>
        <p:nvSpPr>
          <p:cNvPr id="18" name="Text 13"/>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1800" i="1" dirty="0">
                <a:solidFill>
                  <a:srgbClr val="F2CD3A"/>
                </a:solidFill>
                <a:latin typeface="Calibri" pitchFamily="34" charset="0"/>
                <a:ea typeface="Calibri" pitchFamily="34" charset="-122"/>
                <a:cs typeface="Calibri" pitchFamily="34" charset="-120"/>
              </a:rPr>
              <a:t>Nexa was designed from the start to avoid all three. Here is how.</a:t>
            </a:r>
            <a:endParaRPr lang="en-US" sz="18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At scale, Nexa is up to 13,000× more energy efficient than Bitcoin</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580 kWh</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per transaction · two weeks of household electricity</a:t>
            </a:r>
            <a:endParaRPr lang="en-US" sz="1200" dirty="0"/>
          </a:p>
        </p:txBody>
      </p:sp>
      <p:sp>
        <p:nvSpPr>
          <p:cNvPr id="7" name="Shape 5"/>
          <p:cNvSpPr/>
          <p:nvPr/>
        </p:nvSpPr>
        <p:spPr>
          <a:xfrm>
            <a:off x="4338218" y="1737360"/>
            <a:ext cx="3515258" cy="1828800"/>
          </a:xfrm>
          <a:prstGeom prst="roundRect">
            <a:avLst>
              <a:gd name="adj" fmla="val 6000"/>
            </a:avLst>
          </a:prstGeom>
          <a:solidFill>
            <a:srgbClr val="26210F"/>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TODAY</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0.104 kWh</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at 42,000 TPS benchmarked · about 5,600× less</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 BLITZ</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0.044 kWh</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at 100,000 TPS projected · two phone charges</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Miners burn whatever the block reward pays for, whether the chain carries 10 or 10 million transactions. So energy per transaction is simply network electricity divided by throughput.</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138 TWh a year at 7.5 TPS gives 580 kWh each. The same electricity on Nexa at 42,000 TPS gives 0.104 kWh; at 100,000 TPS with Blitz, 0.044 kWh.</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Bitcoin's protocol caps out at 7 to 14 TPS. Even at its busiest day ever it needed 425 kWh per transaction. The gap can never shrink below about 1,000×.</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Same joules, different denominator</a:t>
            </a:r>
            <a:endParaRPr lang="en-US" sz="3000" dirty="0"/>
          </a:p>
        </p:txBody>
      </p:sp>
      <p:pic>
        <p:nvPicPr>
          <p:cNvPr id="3" name="Image 0" descr="preencoded.png">    </p:cNvPr>
          <p:cNvPicPr>
            <a:picLocks noChangeAspect="1"/>
          </p:cNvPicPr>
          <p:nvPr/>
        </p:nvPicPr>
        <p:blipFill>
          <a:blip r:embed="rId1"/>
          <a:stretch>
            <a:fillRect/>
          </a:stretch>
        </p:blipFill>
        <p:spPr>
          <a:xfrm>
            <a:off x="1956429" y="1097280"/>
            <a:ext cx="8278837" cy="4892040"/>
          </a:xfrm>
          <a:prstGeom prst="rect">
            <a:avLst/>
          </a:prstGeom>
        </p:spPr>
      </p:pic>
      <p:sp>
        <p:nvSpPr>
          <p:cNvPr id="4" name="Text 1"/>
          <p:cNvSpPr txBox="1"/>
          <p:nvPr/>
        </p:nvSpPr>
        <p:spPr>
          <a:xfrm>
            <a:off x="548640" y="6035040"/>
            <a:ext cx="11094415" cy="329184"/>
          </a:xfrm>
          <a:prstGeom prst="rect">
            <a:avLst/>
          </a:prstGeom>
          <a:noFill/>
          <a:ln/>
        </p:spPr>
        <p:txBody>
          <a:bodyPr wrap="square" lIns="0" tIns="0" rIns="0" bIns="0" rtlCol="0" anchor="ctr"/>
          <a:lstStyle/>
          <a:p>
            <a:pPr algn="ctr" indent="0" marL="0">
              <a:buNone/>
            </a:pPr>
            <a:r>
              <a:rPr lang="en-US" sz="1000" dirty="0">
                <a:solidFill>
                  <a:srgbClr val="A1A1AA"/>
                </a:solidFill>
                <a:latin typeface="Calibri" pitchFamily="34" charset="0"/>
                <a:ea typeface="Calibri" pitchFamily="34" charset="-122"/>
                <a:cs typeface="Calibri" pitchFamily="34" charset="-120"/>
              </a:rPr>
              <a:t>kWh per transaction = 4,376 ÷ TPS at 138 TWh/yr (Cambridge CBECI). Both chains get the same network electricity, so the lines differ only in throughput. Nexa's 42,000 TPS is benchmarked; 100,000 with Blitz is a projection.</a:t>
            </a:r>
            <a:endParaRPr lang="en-US" sz="1000" dirty="0"/>
          </a:p>
        </p:txBody>
      </p:sp>
      <p:pic>
        <p:nvPicPr>
          <p:cNvPr id="6" name="Image 1" descr="preencoded.png">    </p:cNvPr>
          <p:cNvPicPr>
            <a:picLocks noChangeAspect="1"/>
          </p:cNvPicPr>
          <p:nvPr/>
        </p:nvPicPr>
        <p:blipFill>
          <a:blip r:embed="rId2"/>
          <a:stretch>
            <a:fillRect/>
          </a:stretch>
        </p:blipFill>
        <p:spPr>
          <a:xfrm>
            <a:off x="548640" y="6355080"/>
            <a:ext cx="256032" cy="246888"/>
          </a:xfrm>
          <a:prstGeom prst="rect">
            <a:avLst/>
          </a:prstGeom>
        </p:spPr>
      </p:pic>
      <p:sp>
        <p:nvSpPr>
          <p:cNvPr id="7" name="Text 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8" name="Text 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Nexa can use as much electricity as Bitcoin if enough people mine. At scale, it is far more energy efficient</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16 GW for about 7 TPS</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Miners on any proof-of-work chain burn roughly what the block reward is worth, regardless of use. Cambridge's 2026 estimate is 16 GW, about Norway's average grid load, to carry 7 transactions per second.</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0.3 MW on proof of stake</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About 0.0026 TWh a year since the Merge. Energy is genuinely solved on Ethereum. The trade-offs there are distribution and complexity, covered later in this deck.</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Megawatts today, gigawatts if it wins</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 is proof of work too. Today about 5 to 15 MW of GPUs; valued like Bitcoin, its miners would spend like Bitcoin's. The difference: that electricity would carry 42,000 to 100,000 transactions per second, not 7.</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NTNU Norway research: the greenest kilowatt-hour is the one you never need</a:t>
            </a:r>
            <a:endParaRPr lang="en-US" sz="3000" dirty="0"/>
          </a:p>
        </p:txBody>
      </p:sp>
      <p:sp>
        <p:nvSpPr>
          <p:cNvPr id="3" name="Shape 1"/>
          <p:cNvSpPr/>
          <p:nvPr/>
        </p:nvSpPr>
        <p:spPr>
          <a:xfrm>
            <a:off x="548640" y="1691640"/>
            <a:ext cx="3515258" cy="35204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Clean power still costs nature</a:t>
            </a:r>
            <a:endParaRPr lang="en-US" sz="1800" dirty="0"/>
          </a:p>
        </p:txBody>
      </p:sp>
      <p:sp>
        <p:nvSpPr>
          <p:cNvPr id="7" name="Text 4"/>
          <p:cNvSpPr txBox="1"/>
          <p:nvPr/>
        </p:nvSpPr>
        <p:spPr>
          <a:xfrm>
            <a:off x="822960"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Borgelt et al., NTNU Norway (2026): building the wind, solar and grid Norway needs by 2050 could raise habitat loss by up to 28%. The most effective protection is “to lower electricity demand through energy efficiency measures”.</a:t>
            </a:r>
            <a:endParaRPr lang="en-US" sz="1500" dirty="0"/>
          </a:p>
        </p:txBody>
      </p:sp>
      <p:sp>
        <p:nvSpPr>
          <p:cNvPr id="8" name="Shape 5"/>
          <p:cNvSpPr/>
          <p:nvPr/>
        </p:nvSpPr>
        <p:spPr>
          <a:xfrm>
            <a:off x="4338218" y="1691640"/>
            <a:ext cx="3515258" cy="35204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 kilowatt-hour is free</a:t>
            </a:r>
            <a:endParaRPr lang="en-US" sz="1800" dirty="0"/>
          </a:p>
        </p:txBody>
      </p:sp>
      <p:sp>
        <p:nvSpPr>
          <p:cNvPr id="12" name="Text 8"/>
          <p:cNvSpPr txBox="1"/>
          <p:nvPr/>
        </p:nvSpPr>
        <p:spPr>
          <a:xfrm>
            <a:off x="4612538"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Hertwich, Gibon et al., NTNU Norway (PNAS 2014): the first global life-cycle assessment of renewable electricity. Hydro, wind and solar beat fossil fuels by far, but still carry land, material and emission footprints.</a:t>
            </a:r>
            <a:endParaRPr lang="en-US" sz="1500" dirty="0"/>
          </a:p>
        </p:txBody>
      </p:sp>
      <p:sp>
        <p:nvSpPr>
          <p:cNvPr id="13" name="Shape 9"/>
          <p:cNvSpPr/>
          <p:nvPr/>
        </p:nvSpPr>
        <p:spPr>
          <a:xfrm>
            <a:off x="8127797" y="1691640"/>
            <a:ext cx="3515258" cy="35204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Efficiency is the “first fuel”</a:t>
            </a:r>
            <a:endParaRPr lang="en-US" sz="1800" dirty="0"/>
          </a:p>
        </p:txBody>
      </p:sp>
      <p:sp>
        <p:nvSpPr>
          <p:cNvPr id="17" name="Text 12"/>
          <p:cNvSpPr txBox="1"/>
          <p:nvPr/>
        </p:nvSpPr>
        <p:spPr>
          <a:xfrm>
            <a:off x="8402117"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HighEFF, the SINTEF/NTNU Norway efficiency centre: Norway committed at COP28 to energy efficiency as the first fuel, “a conflict-free measure that frees energy to be used for other purposes”. A payment rail doing 13,000× more per kWh is exactly that.</a:t>
            </a:r>
            <a:endParaRPr lang="en-US" sz="1500" dirty="0"/>
          </a:p>
        </p:txBody>
      </p:sp>
      <p:sp>
        <p:nvSpPr>
          <p:cNvPr id="18" name="Text 13"/>
          <p:cNvSpPr txBox="1"/>
          <p:nvPr/>
        </p:nvSpPr>
        <p:spPr>
          <a:xfrm>
            <a:off x="548640" y="5440680"/>
            <a:ext cx="11094415" cy="54864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Borgelt, Gilad, May &amp; Verones, “Renewable energy growth amplifies land pressure on Norwegian biodiversity”, Cleaner Energy Systems 13 (2026) · Hertwich et al., “Integrated life-cycle assessment of electricity-supply scenarios”, PNAS (2014) · HighEFF at NTNU Norway Energy Transition Week (2024)</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No single-purpose hardware, no mountain of e-waste</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ASICs built to be scrapped</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 Bitcoin ASIC computes SHA-256 and nothing else. It is obsolete after about 1.3 years: 30,700 tonnes of e-waste a year, 272 grams per transaction, about the weight of an iPhone.</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Nexa: ordinary gaming GPUs</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NexaPoW is GPU-friendly on NVIDIA and AMD cards. A card that stops mining goes back to gaming, AI or rendering. Nothing in the network is built to be thrown away.</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Next: reprogrammable FPGAs</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Blitz is an FPGA card that verifies signatures for the node. FPGAs are reprogrammed, not replaced, and NexaPoW's mining work is the same signature math the chain needs anyway.</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Fair launch: zero premine, zero ICO, zero venture capital</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Fair in 2009, closed today</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The first million coins were mined on ordinary PCs. A newcomer in 2026 competes with industrial ASIC farms on subsidised power. The door is open in theory only.</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72 million ETH created at genesis</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Around 60% of today's supply existed before the network did, most of it sold in a 2014 ICO. Insiders were paid before the first block.</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0 premine, 0 team coins, 0 VCs</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Launched 21 June 2022. All of the 21 trillion supply is mined in public on GPUs, and the network is four years old, not seventeen. Latecomers are still early.</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Scale: 42,000 transactions per second on today's hardware</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7 TPS</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unchanged since 2010 · hard-capped by block size</a:t>
            </a:r>
            <a:endParaRPr lang="en-US" sz="1200" dirty="0"/>
          </a:p>
        </p:txBody>
      </p:sp>
      <p:sp>
        <p:nvSpPr>
          <p:cNvPr id="7" name="Shape 5"/>
          <p:cNvSpPr/>
          <p:nvPr/>
        </p:nvSpPr>
        <p:spPr>
          <a:xfrm>
            <a:off x="4338218" y="1737360"/>
            <a:ext cx="3515258" cy="1828800"/>
          </a:xfrm>
          <a:prstGeom prst="roundRect">
            <a:avLst>
              <a:gd name="adj" fmla="val 6000"/>
            </a:avLst>
          </a:prstGeom>
          <a:solidFill>
            <a:srgbClr val="1A1F3A"/>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627EEA"/>
                </a:solidFill>
                <a:latin typeface="Calibri" pitchFamily="34" charset="0"/>
                <a:ea typeface="Calibri" pitchFamily="34" charset="-122"/>
                <a:cs typeface="Calibri" pitchFamily="34" charset="-120"/>
              </a:rPr>
              <a:t>ETHEREUM L1</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26 TPS</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Q1 2026 daily average · users pushed to layer 2s</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42,000 TPS</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benchmarked · 100,000 projected with Blitz</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has carried about 7 TPS since 2010. Ethereum's base layer averaged 26 TPS in early 2026 and relies on layer 2 networks, each with its own bridge, fees and trust assumptions.</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Nexa is a UTXO chain: every transaction validates independently and in parallel, so throughput grows with hardware rather than with committee decisions.</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The two real bottlenecks, signature checks and UTXO lookups, move off the CPU onto Blitz FPGAs. The same boards later absorb post-quantum signatures, which are 10 to 40 times larger.</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Payments that feel like Vipps: under two seconds, about 3 NEXA (under $0.0001)</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Instant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Zero-confirmation payments secured by double-spend proofs confirm in under two seconds. Blocks follow every two minutes. No waiting an hour for six confirmations.</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Near-zero fees</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 typical transaction pays about 3 NEXA in fees, roughly $0.000004 at today's price and a fraction of an øre. Compare fees measured in dollars on Bitcoin and gas auctions on Ethereum's base layer.</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New kinds of payments</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Micropayments, in-game economies and machine-to-machine payments that card networks, Bitcoin and Ethereum cannot price. Sound money that also works as cash.</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Tokens and NFTs are built into the protocol, not bolted on</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Native, not a contract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Group tokens are a primitive of the chain itself. No smart contract means no contract bug to exploit, which is where most Ethereum token hacks come from.</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fraction of a cent to mint</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Minting is an ordinary transaction that costs a few NEXA, with no gas auction, so an NFT does not need a speculative market to justify the cost of existing. It can simply be a ticket, a key or a game item.</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Built for utility</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Tickets, in-game items, certificates, identity: the item itself, transferable and verifiable by anyone, rather than a bet on the item.</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Open outcry trading over CAPD: shout an offer, anyone can take it</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Shout the offer to the network</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CAPD (Counterparty and Protocol Discovery) is a message bus carried by the same nodes that relay transactions. You broadcast a half-signed offer, say 100 tokens for 5,000 NEXA, and every node passes it on, like a trader calling out a price on the floor.</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 exchange, no order-book server</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Whoever wants the deal completes the half-signed transaction and broadcasts it. The swap settles on-chain in one atomic transaction, with no exchange, listing fee or matching server in between. Bitcoin has no such layer; on Ethereum it takes a DEX contract and gas per trade.</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Proof of work instead of fees, then it disappears</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Senders solve a small proof of work instead of paying a fee, which keeps spam out. Offers are ephemeral: they fade from relay in about ten minutes unless re-broadcast, can be withdrawn early, and never touch the blockchain until someone takes them.</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Smart contracts without the EVM</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Script templates</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Contracts are small, deterministic scripts attached to coins and validated in parallel like any other transaction. There is no global state machine to congest.</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 EVM overhead</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No gas market, no reentrancy class of bugs, no fee spike for everyone when one app gets popular. Contracts run at the same 42,000 TPS as plain payments.</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full platform</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Wallet login with on-chain identity, payment requests to the user's wallet and peer-to-peer messaging are part of the stack, with Kotlin and JavaScript libraries.</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Why this matters in Norway</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clean grid under pressure</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98% of Norway's electricity is hydro and wind, yet in 2025 the government froze new proof-of-work data centres to protect grid capacity. Nexa mining runs on ordinary GPUs and does not depend on data centres.</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 Norway</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Bitcoin's roughly 140 TWh a year equals Norway's entire electricity consumption, for 7 transactions per second. The same electricity on Nexa would carry thousands of times more payments.</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cashless country</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Norwegians already pay by phone in seconds. A sound-money rail that settles in two seconds for a fraction of an øre fits how people here already live.</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Comparison overview</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3120"/>
                <a:gridCol w="2834640"/>
                <a:gridCol w="2834640"/>
                <a:gridCol w="3322015"/>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Concern</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7272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7931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627EE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2CD3A"/>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Energy and hardware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16 GW. Single-purpose ASICs, 30,700 t of e-waste a year.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0.3 MW on proof of stake. Commodity servers.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Proof of work too, so power follows price. Reusable GPUs, and at scale up to 13,000× more transactions per kWh than Bitcoin.</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 gets the new coins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Fair launch in 2009; today only industrial farms can mine.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72M ETH premined. Rewards proportional to stake held.</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No premine, no ICO, no VCs. 100% mined in public since 2022, open to anyone with a GPU.</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Tokens and NFTs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Not native. Inscriptions compete for scarce block space.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Smart-contract tokens: gas auctions and contract exploits.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Protocol-native, a fraction of a cent to mint. Designed as tickets, items and identity, not a market.</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Finding a counterparty</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No native layer. Trading means a centralised exchange.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On-chain DEX contracts, gas for every order and trade.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CAPD open outcry: broadcast the offer off-chain, settle on-chain, no exchange in between.</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bl>
          </a:graphicData>
        </a:graphic>
      </p:graphicFrame>
      <p:pic>
        <p:nvPicPr>
          <p:cNvPr id="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6" name="Text 1"/>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7"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Three things to remember</a:t>
            </a:r>
            <a:endParaRPr lang="en-US" sz="3000" dirty="0"/>
          </a:p>
        </p:txBody>
      </p:sp>
      <p:sp>
        <p:nvSpPr>
          <p:cNvPr id="3" name="Shape 1"/>
          <p:cNvSpPr/>
          <p:nvPr/>
        </p:nvSpPr>
        <p:spPr>
          <a:xfrm>
            <a:off x="548640" y="1691640"/>
            <a:ext cx="3515258" cy="356616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Energy</a:t>
            </a:r>
            <a:endParaRPr lang="en-US" sz="2000" dirty="0"/>
          </a:p>
        </p:txBody>
      </p:sp>
      <p:sp>
        <p:nvSpPr>
          <p:cNvPr id="7" name="Text 4"/>
          <p:cNvSpPr txBox="1"/>
          <p:nvPr/>
        </p:nvSpPr>
        <p:spPr>
          <a:xfrm>
            <a:off x="822960"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Proof of work costs what miners are paid, on any chain. At scale, Nexa gets up to 13,000× more transactions out of every kilowatt-hour than Bitcoin, on reusable GPUs, not throw-away ASICs.</a:t>
            </a:r>
            <a:endParaRPr lang="en-US" sz="1500" dirty="0"/>
          </a:p>
        </p:txBody>
      </p:sp>
      <p:sp>
        <p:nvSpPr>
          <p:cNvPr id="8" name="Shape 5"/>
          <p:cNvSpPr/>
          <p:nvPr/>
        </p:nvSpPr>
        <p:spPr>
          <a:xfrm>
            <a:off x="4338218" y="1691640"/>
            <a:ext cx="3515258" cy="356616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Fairness</a:t>
            </a:r>
            <a:endParaRPr lang="en-US" sz="2000" dirty="0"/>
          </a:p>
        </p:txBody>
      </p:sp>
      <p:sp>
        <p:nvSpPr>
          <p:cNvPr id="12" name="Text 8"/>
          <p:cNvSpPr txBox="1"/>
          <p:nvPr/>
        </p:nvSpPr>
        <p:spPr>
          <a:xfrm>
            <a:off x="4612538"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No premine, no ICO, no venture capital. 100% of the supply mined in public since 2022, open to anyone with a graphics card.</a:t>
            </a:r>
            <a:endParaRPr lang="en-US" sz="1500" dirty="0"/>
          </a:p>
        </p:txBody>
      </p:sp>
      <p:sp>
        <p:nvSpPr>
          <p:cNvPr id="13" name="Shape 9"/>
          <p:cNvSpPr/>
          <p:nvPr/>
        </p:nvSpPr>
        <p:spPr>
          <a:xfrm>
            <a:off x="8127797" y="1691640"/>
            <a:ext cx="3515258" cy="356616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Utility</a:t>
            </a:r>
            <a:endParaRPr lang="en-US" sz="2000" dirty="0"/>
          </a:p>
        </p:txBody>
      </p:sp>
      <p:sp>
        <p:nvSpPr>
          <p:cNvPr id="17" name="Text 12"/>
          <p:cNvSpPr txBox="1"/>
          <p:nvPr/>
        </p:nvSpPr>
        <p:spPr>
          <a:xfrm>
            <a:off x="8402117"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Two-second, sub-cent payments, protocol-native tokens for games, tickets and identity, and open outcry trading over CAPD. Built for use, not for speculation.</a:t>
            </a:r>
            <a:endParaRPr lang="en-US" sz="1500" dirty="0"/>
          </a:p>
        </p:txBody>
      </p:sp>
      <p:sp>
        <p:nvSpPr>
          <p:cNvPr id="18" name="Text 13"/>
          <p:cNvSpPr txBox="1"/>
          <p:nvPr/>
        </p:nvSpPr>
        <p:spPr>
          <a:xfrm>
            <a:off x="548640" y="5486400"/>
            <a:ext cx="11094415" cy="73152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Sources: Cambridge CBECI (2026) · de Vries &amp; Stoll, Bitcoin's growing e-waste problem (2021) · ethereum.org · nexa.org and spec.nexa.org · Statistics Norway (SSB) · Norwegian government data-centre regulation (June 2025) · NTNU Norway: Borgelt et al. (2026), Hertwich et al. (2014), HighEFF (2024) · jqrgen.medium.com (Sept 2026)</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Nexa vs Bitcoin and Ethereum</dc:title>
  <dc:subject>PptxGenJS Presentation</dc:subject>
  <dc:creator>Nexa</dc:creator>
  <cp:lastModifiedBy>Nexa</cp:lastModifiedBy>
  <cp:revision>1</cp:revision>
  <dcterms:created xsi:type="dcterms:W3CDTF">2026-09-15T00:32:42Z</dcterms:created>
  <dcterms:modified xsi:type="dcterms:W3CDTF">2026-09-15T00:32:42Z</dcterms:modified>
</cp:coreProperties>
</file>