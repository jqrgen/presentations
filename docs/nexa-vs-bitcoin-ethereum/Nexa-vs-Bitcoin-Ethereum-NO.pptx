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deg kort: informatikk og NTNUs Entreprenørskole i Trondheim, og at du underviser i Bitcoin og Nexa blokkjede ved University of Exeter. For dette publikummet betyr NTNU-koblingen noe: miljøforskningen på slide 6 kommer fra ditt eget universitet. Åpning. Presentasjonen er skrevet for et skeptisk publikum. Den første innholdssliden innrømmer kritikken før den besvares. Kilder for hvert tall ligger i notatene til hver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Innrøm først. Energi: Cambridge CBECI live-anslag 138 TWh/år, Digiconomist ~204 TWh/år; Norges nasjonale forbruk er rundt 140 TWh/år. E-avfall: de Vries &amp; Stoll (2021), 30,7 kt/år, ASIC-levetid 1,29 år, 272 g per transaksjon. Finansialisering: Ethereums 72M ETH ved genesis og innsatsvektet belønning; NFT-utstedelse på Ethereum L1 har historisk kostet titalls dollar i gass.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Metode fra Medium-artikkelen «Nexa is 13,000x more energy efficient than Bitcoin» (sept. 2026): kWh per transaksjon = 4 376 / TPS ved 138 TWh/år. Bitcoin 7,5 TPS -&gt; 580 kWh; travleste dag 10,3 TPS -&gt; 425 kWh. Nexa 42 000 TPS er en benchmark på dagens maskinvare; 100 000 med Blitz er et anslag. Vær tydelig på at dette er en kapasitetssammenligning ved lik nettverkseffekt. Kilder: Cambridge CBECI, Digiconomist, Blockchair.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Grafen er gjenskapt fra det interaktive artefaktet «The Denominator Chart» (claude.ai/artifact/QTRwhPcMUUQ6PwhibYYbQ2), der du også kan bytte til Digiconomists 204 TWh/år. Slik leses den: én teller, minerne brenner det blokkbelønningen betaler for, så nettverksstrømmen er den samme for begge linjene. Bitcoins nevner står fast: gjennomstrømningen har ligget nær 7 TPS siden 2010 og protokollen begrenser den til 7 til 14, så mer etterspørsel gir lengre kø, ikke flere transaksjoner. Nexas nevner vokser: samme joule delt på 42 000 TPS blir 5 600× tynnere enn Bitcoin i dag, og 13 000× ved 100 000 TPS med Blitz. Forholdet avhenger ikke av hvilket strømanslag du tror på. Bitcoins travleste dag noensinne, 10,3 TPS, ville ligget på 425 kWh per transaksjon; det teoretiske taket på 14 TPS på 313. Kilder: Cambridge CBECI, Digiconomist, Blockchair,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Vær ærlig: proof-of-work-energi følger myntens verdi, ikke bruken, og det gjelder Nexa like mye som Bitcoin. Var Nexa like verdifull som Bitcoin, ville minerne trolig brukt like mye på strøm. Påstanden er ikke at Nexa er liten, men at samme strøm gjør tusenvis av ganger mer arbeid. Bitcoin: CBECI-anslag aug. 2026 16,09 GW / 141 TWh per år. Norge bruker ~140 TWh/år = ~16 GW i snitt. Ethereum: ethereum.org, ~0,0026 TWh/år = ~0,3 MW i snitt. Nexa i dag: nettverkshashrate 2,5 til 4,8 TH/s (2Miners, Kryptex, 2026); et RTX 4090 gjør ~203 MH/s ved ~306 W. 4,84 TH/s / 0,66 MH/W = ~7 MW; eldre kort er mindre effektive, derav 5 til 15 MW.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Hvorfor denne sliden: arrangørenes innvending er miljømessig, så svaret bør komme fra norsk miljøforskning, ikke fra kryptomiljøet. Borgelt J., Gilad D., May R., Verones F. (2026), Cleaner Energy Systems vol. 13, NTNU Industrial Ecology Programme: seks scenarioer for Norges kraftutbygging mot 2050; habitattap inntil +28 %; vind har størst potensial for nytt habitattap, overføringsnettet nest størst; sitat fra NTNUs pressemelding (mai 2026): den mest effektive måten å redusere naturtap vesentlig på er å senke strømetterspørselen gjennom energieffektivisering. Hertwich E.G., Gibon T. m.fl. (2014), PNAS 112(20): 6277-6282, publisert på nett okt. 2014, NTNU: global LCA av kraftforsyning mot 2050; lavkarbonteknologier har langt lavere påvirkning enn fossilt, men ikke null areal-, material- og utslippsavtrykk. HighEFF (FME-senter ledet av SINTEF Energi med NTNU), NTNU Energy Transition Week 2024: EUs «energy efficiency first»-prinsipp; Norges COP28-løfte om å sette energieffektivisering som «first fuel» i kjernen av politikkutforming; direktør Petter Røkkes sitat om «konfliktfritt tiltak». Støtte: Sandberg m.fl. (SINTEF/NTNU) anslår 12,7 TWh (2030) til 21,3 TWh (2050) sparepotensial i norske bygg; Energikommisjonen (NOU 2023:3, «Mer av alt – raskere») kaller effektivisering den raskeste, billigste og minst naturødeleggende måten å tette kraftgapet på. Koblingen: ved lik strøm gjør Nexa tusenvis av ganger flere betalinger enn Bitcoin, som er nettopp den typen reduksjon i etterspørsel per enhet verdi disse forskerne ber 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E-avfallstall: de Vries &amp; Stoll, «Bitcoin's growing e-waste problem», Resources, Conservation &amp; Recycling (2021). NexaPoW kombinerer SHA-256 med Schnorr-signering, bevisst, slik at spesialisert maskinvare også akselererer signaturvalidering (spec.nexa.org/mining/NexaPOW). Blitz: FPGA-motor for signaturverifisering annonsert nov. 2024, under utvikling og testing gjennom 2026 (Nexas nyhetsbrev juli 2026). Ærlig forbehold: GPU-mining bruker fortsatt maskinvare; poenget er gjenbruk, ikke null fotavtrykk.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Nexa: nexa.org, «Nexa was 100% fair launched, with no team coins, no premine, and no VCs, and 100% of its supply will be mined via Proof of Work.» Lansert 21. juni 2022. Ethereum: 72M ETH ved genesis (rundt 60M solgt i crowdsale i 2014, 12M til stiftelsen og tidlige bidragsytere); sirkulerende tilbud ~120M ETH, altså omtrent 60 %. Bitcoin: anslag på ~1M BTC utvunnet av Satoshi i 2009-2010. Merk: engelsk «21 trillion» = 21 billioner på norsk.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42 000 TPS er en Nexa-benchmark; nexa.org oppgir «&gt;60,000 TPS». 100 000 med Blitz er et anslag. Ethereum: daglig snitt på mainnet 25,78 TPS i 1. kvartal 2026 (ethereum.org, «Building on Ethereum in 2026»); gassgrense 60M, med planer om å heve den videre. Postkvante-signaturstørrelser fra artikkelen: Schnorr 64 byte, Falcon 666, Dilithium 2 420.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Gebyrtall fra explorer.nexa.org 15. sept. 2026: nettverkets gebyrsats er 1 satoshi per byte, og en enkel transaksjon er 250 til 320 byte, altså 2,5 til 3,2 NEXA (100 satoshi = 1 NEXA). Med explorerens kurs på 0,0000013 dollar per NEXA blir det rundt 0,000004 dollar, omtrent 0,004 øre. Oppdater kursen før du presenterer. nexa.org: «confirms in under two seconds with near-zero fees», «under $0.0001 per transaction». Nullbekreftelse med bevis mot dobbeltforbruk er Bitcoin Unlimited-teknologi videreført i Nexa. Vipps-referansen: Norge er nesten kontantløst; poenget er at brukeropplevelsen nordmenn forventer allerede er grunnlinjen 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spec.nexa.org/tokens/grouptokens: «Groups implement native tokens; that is, the tokens are a fundamental primitive in the blockchain rather than implemented as a smart contract or in a layer 2 data-carrier protocol.» Møt NFT-kritikken direkte: spekulasjonen arrangørene beskriver er et produkt av knapphet pluss høy utstedelseskostnad pluss markedsføring. Nexa fjerner kostnaden og kontraktrisikoen; om en gjenstand blir spekulativ er da opp til spilldesigneren, ikke kjeden.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nexa.org: «Native on-chain programmability without EVM complexity», «No EVM overhead». Utviklerstacken: Wally-lommebok, TDPP-betalingsprotokoll, nexid-identitet, CAPD-meldinger, NexaJS og libnexakotlin. Hold denne sliden kort for et ikke-teknisk publikum; utdyp bare hvis noen spør.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SSB: 98 % av Norges strøm fra vann og vind (sent 2025); normal årsproduksjon ~157 TWh, forbruk ~140 TWh. Juni 2025: regjeringen varslet et midlertidig forbud mot nye proof-of-work-datasentre for mining, med obligatorisk datasenterregister; myndighetene har antydet at det kan bli permanent. Vær ærlig: forbudet gjelder PoW-mining generelt, så en Nexa-farm ville også vært omfattet. Poenget er at Nexas nettverk ikke er avhengig av farmer noe 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Ett-slides svar på arrangørenes tre temaer: energi og e-avfall, hvem som tjener på det, og NFT-spekulasjon. Hvert tall står tidligere i presentasjonen med kilde.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Avslutt med de tre svarene på de tre bekymringene. Hvis 13 000×-tallet utfordres: det er en kapasitetssammenligning ved lik nettverkseffekt, 5 600× på dagens benchmark og 13 000× med Blitz; gulvet er 1 000× fordi Bitcoin ikke kan overstige ~14 TPS.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640080"/>
            <a:ext cx="2377440" cy="547296"/>
          </a:xfrm>
          <a:prstGeom prst="rect">
            <a:avLst/>
          </a:prstGeom>
        </p:spPr>
      </p:pic>
      <p:pic>
        <p:nvPicPr>
          <p:cNvPr id="3" name="Image 1" descr="preencoded.png">    </p:cNvPr>
          <p:cNvPicPr>
            <a:picLocks noChangeAspect="1"/>
          </p:cNvPicPr>
          <p:nvPr/>
        </p:nvPicPr>
        <p:blipFill>
          <a:blip r:embed="rId2"/>
          <a:stretch>
            <a:fillRect/>
          </a:stretch>
        </p:blipFill>
        <p:spPr>
          <a:xfrm>
            <a:off x="7874991" y="1508760"/>
            <a:ext cx="3402304" cy="3291840"/>
          </a:xfrm>
          <a:prstGeom prst="rect">
            <a:avLst/>
          </a:prstGeom>
        </p:spPr>
      </p:pic>
      <p:sp>
        <p:nvSpPr>
          <p:cNvPr id="4" name="Text 0"/>
          <p:cNvSpPr txBox="1"/>
          <p:nvPr/>
        </p:nvSpPr>
        <p:spPr>
          <a:xfrm>
            <a:off x="548640" y="2103120"/>
            <a:ext cx="7223760" cy="182880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Energieffektive penger i internettskala</a:t>
            </a:r>
            <a:endParaRPr lang="en-US" sz="4000" dirty="0"/>
          </a:p>
        </p:txBody>
      </p:sp>
      <p:sp>
        <p:nvSpPr>
          <p:cNvPr id="5" name="Text 1"/>
          <p:cNvSpPr txBox="1"/>
          <p:nvPr/>
        </p:nvSpPr>
        <p:spPr>
          <a:xfrm>
            <a:off x="548640" y="4114800"/>
            <a:ext cx="7223760" cy="457200"/>
          </a:xfrm>
          <a:prstGeom prst="rect">
            <a:avLst/>
          </a:prstGeom>
          <a:noFill/>
          <a:ln/>
        </p:spPr>
        <p:txBody>
          <a:bodyPr wrap="square" lIns="0" tIns="0" rIns="0" bIns="0" rtlCol="0" anchor="ctr"/>
          <a:lstStyle/>
          <a:p>
            <a:pPr indent="0" marL="0">
              <a:buNone/>
            </a:pPr>
            <a:r>
              <a:rPr lang="en-US" sz="2000" dirty="0">
                <a:solidFill>
                  <a:srgbClr val="E4E4E7"/>
                </a:solidFill>
                <a:latin typeface="Calibri" pitchFamily="34" charset="0"/>
                <a:ea typeface="Calibri" pitchFamily="34" charset="-122"/>
                <a:cs typeface="Calibri" pitchFamily="34" charset="-120"/>
              </a:rPr>
              <a:t>Hva som skiller Nexa fra Bitcoin og Ethereum</a:t>
            </a:r>
            <a:endParaRPr lang="en-US" sz="2000" dirty="0"/>
          </a:p>
        </p:txBody>
      </p:sp>
      <p:sp>
        <p:nvSpPr>
          <p:cNvPr id="6" name="Text 2"/>
          <p:cNvSpPr txBox="1"/>
          <p:nvPr/>
        </p:nvSpPr>
        <p:spPr>
          <a:xfrm>
            <a:off x="548640" y="4617720"/>
            <a:ext cx="7223760" cy="365760"/>
          </a:xfrm>
          <a:prstGeom prst="rect">
            <a:avLst/>
          </a:prstGeom>
          <a:noFill/>
          <a:ln/>
        </p:spPr>
        <p:txBody>
          <a:bodyPr wrap="square" lIns="0" tIns="0" rIns="0" bIns="0" rtlCol="0" anchor="ctr"/>
          <a:lstStyle/>
          <a:p>
            <a:pPr indent="0" marL="0">
              <a:buNone/>
            </a:pPr>
            <a:r>
              <a:rPr lang="en-US" sz="1400" dirty="0">
                <a:solidFill>
                  <a:srgbClr val="A1A1AA"/>
                </a:solidFill>
                <a:latin typeface="Calibri" pitchFamily="34" charset="0"/>
                <a:ea typeface="Calibri" pitchFamily="34" charset="-122"/>
                <a:cs typeface="Calibri" pitchFamily="34" charset="-120"/>
              </a:rPr>
              <a:t>Norge · 2026</a:t>
            </a:r>
            <a:endParaRPr lang="en-US" sz="1400" dirty="0"/>
          </a:p>
        </p:txBody>
      </p:sp>
      <p:sp>
        <p:nvSpPr>
          <p:cNvPr id="7" name="Text 3"/>
          <p:cNvSpPr txBox="1"/>
          <p:nvPr/>
        </p:nvSpPr>
        <p:spPr>
          <a:xfrm>
            <a:off x="548640" y="5212080"/>
            <a:ext cx="7223760" cy="365760"/>
          </a:xfrm>
          <a:prstGeom prst="rect">
            <a:avLst/>
          </a:prstGeom>
          <a:noFill/>
          <a:ln/>
        </p:spPr>
        <p:txBody>
          <a:bodyPr wrap="square" lIns="0" tIns="0" rIns="0" bIns="0" rtlCol="0" anchor="ctr"/>
          <a:lstStyle/>
          <a:p>
            <a:pPr indent="0" marL="0">
              <a:buNone/>
            </a:pPr>
            <a:r>
              <a:rPr lang="en-US" sz="1600" b="1" dirty="0">
                <a:solidFill>
                  <a:srgbClr val="F2CD3A"/>
                </a:solidFill>
                <a:latin typeface="Calibri" pitchFamily="34" charset="0"/>
                <a:ea typeface="Calibri" pitchFamily="34" charset="-122"/>
                <a:cs typeface="Calibri" pitchFamily="34" charset="-120"/>
              </a:rPr>
              <a:t>Jørgen S. Notland</a:t>
            </a:r>
            <a:endParaRPr lang="en-US" sz="1600" dirty="0"/>
          </a:p>
        </p:txBody>
      </p:sp>
      <p:sp>
        <p:nvSpPr>
          <p:cNvPr id="8" name="Text 4"/>
          <p:cNvSpPr txBox="1"/>
          <p:nvPr/>
        </p:nvSpPr>
        <p:spPr>
          <a:xfrm>
            <a:off x="548640" y="5577840"/>
            <a:ext cx="7223760" cy="640080"/>
          </a:xfrm>
          <a:prstGeom prst="rect">
            <a:avLst/>
          </a:prstGeom>
          <a:noFill/>
          <a:ln/>
        </p:spPr>
        <p:txBody>
          <a:bodyPr wrap="square" lIns="0" tIns="0" rIns="0" bIns="0" rtlCol="0" anchor="t"/>
          <a:lstStyle/>
          <a:p>
            <a:pPr indent="0" marL="0">
              <a:spcAft>
                <a:spcPts val="200"/>
              </a:spcAft>
              <a:buNone/>
            </a:pPr>
            <a:r>
              <a:rPr lang="en-US" sz="1300" dirty="0">
                <a:solidFill>
                  <a:srgbClr val="E4E4E7"/>
                </a:solidFill>
                <a:latin typeface="Calibri" pitchFamily="34" charset="0"/>
                <a:ea typeface="Calibri" pitchFamily="34" charset="-122"/>
                <a:cs typeface="Calibri" pitchFamily="34" charset="-120"/>
              </a:rPr>
              <a:t>Informatikk og NTNUs Entreprenørskole, NTNU</a:t>
            </a:r>
            <a:endParaRPr lang="en-US" sz="1300" dirty="0"/>
          </a:p>
          <a:p>
            <a:pPr indent="0" marL="0">
              <a:spcAft>
                <a:spcPts val="200"/>
              </a:spcAft>
              <a:buNone/>
            </a:pPr>
            <a:r>
              <a:rPr lang="en-US" sz="1300" dirty="0">
                <a:solidFill>
                  <a:srgbClr val="E4E4E7"/>
                </a:solidFill>
                <a:latin typeface="Calibri" pitchFamily="34" charset="0"/>
                <a:ea typeface="Calibri" pitchFamily="34" charset="-122"/>
                <a:cs typeface="Calibri" pitchFamily="34" charset="-120"/>
              </a:rPr>
              <a:t>Underviser i Bitcoin og Nexa blokkjede ved University of Exeter</a:t>
            </a:r>
            <a:endParaRPr lang="en-US" sz="1300" dirty="0"/>
          </a:p>
        </p:txBody>
      </p:sp>
      <p:pic>
        <p:nvPicPr>
          <p:cNvPr id="10" name="Image 2" descr="preencoded.png">    </p:cNvPr>
          <p:cNvPicPr>
            <a:picLocks noChangeAspect="1"/>
          </p:cNvPicPr>
          <p:nvPr/>
        </p:nvPicPr>
        <p:blipFill>
          <a:blip r:embed="rId3"/>
          <a:stretch>
            <a:fillRect/>
          </a:stretch>
        </p:blipFill>
        <p:spPr>
          <a:xfrm>
            <a:off x="548640" y="6355080"/>
            <a:ext cx="256032" cy="246888"/>
          </a:xfrm>
          <a:prstGeom prst="rect">
            <a:avLst/>
          </a:prstGeom>
        </p:spPr>
      </p:pic>
      <p:sp>
        <p:nvSpPr>
          <p:cNvPr id="11" name="Text 5"/>
          <p:cNvSpPr txBox="1"/>
          <p:nvPr/>
        </p:nvSpPr>
        <p:spPr>
          <a:xfrm>
            <a:off x="877824" y="6400800"/>
            <a:ext cx="2743200" cy="274320"/>
          </a:xfrm>
          <a:prstGeom prst="rect">
            <a:avLst/>
          </a:prstGeom>
          <a:noFill/>
          <a:ln/>
        </p:spPr>
        <p:txBody>
          <a:bodyPr wrap="square" lIns="0" tIns="0" rIns="0" bIns="0" rtlCol="0" anchor="ctr"/>
          <a:lstStyle/>
          <a:p>
            <a:pPr algn="l" indent="0" marL="0">
              <a:buNone/>
            </a:pPr>
            <a:r>
              <a:rPr lang="en-US" sz="1000" dirty="0">
                <a:solidFill>
                  <a:srgbClr val="A1A1AA"/>
                </a:solidFill>
                <a:latin typeface="Calibri" pitchFamily="34" charset="0"/>
                <a:ea typeface="Calibri" pitchFamily="34" charset="-122"/>
                <a:cs typeface="Calibri" pitchFamily="34" charset="-120"/>
              </a:rPr>
              <a:t>Nexa · 2026</a:t>
            </a:r>
            <a:endParaRPr lang="en-US" sz="1000" dirty="0"/>
          </a:p>
        </p:txBody>
      </p:sp>
      <p:sp>
        <p:nvSpPr>
          <p:cNvPr id="12" name="Text 6"/>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A1A1AA"/>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1005840"/>
          </a:xfrm>
          <a:prstGeom prst="rect">
            <a:avLst/>
          </a:prstGeom>
          <a:noFill/>
          <a:ln/>
        </p:spPr>
        <p:txBody>
          <a:bodyPr wrap="square" lIns="0" tIns="0" rIns="0" bIns="0" rtlCol="0" anchor="t"/>
          <a:lstStyle/>
          <a:p>
            <a:pPr algn="l" indent="0" marL="0">
              <a:buNone/>
            </a:pPr>
            <a:r>
              <a:rPr lang="en-US" sz="3000" b="1" dirty="0">
                <a:solidFill>
                  <a:srgbClr val="FFFFFF"/>
                </a:solidFill>
                <a:latin typeface="Calibri" pitchFamily="34" charset="0"/>
                <a:ea typeface="Calibri" pitchFamily="34" charset="-122"/>
                <a:cs typeface="Calibri" pitchFamily="34" charset="-120"/>
              </a:rPr>
              <a:t>Kritikken av krypto er stort sett riktig</a:t>
            </a:r>
            <a:endParaRPr lang="en-US" sz="3000" dirty="0"/>
          </a:p>
        </p:txBody>
      </p:sp>
      <p:sp>
        <p:nvSpPr>
          <p:cNvPr id="3" name="Shape 1"/>
          <p:cNvSpPr/>
          <p:nvPr/>
        </p:nvSpPr>
        <p:spPr>
          <a:xfrm>
            <a:off x="548640" y="1691640"/>
            <a:ext cx="3515258" cy="3383280"/>
          </a:xfrm>
          <a:prstGeom prst="roundRect">
            <a:avLst>
              <a:gd name="adj" fmla="val 3243"/>
            </a:avLst>
          </a:prstGeom>
          <a:solidFill>
            <a:srgbClr val="18181B"/>
          </a:solidFill>
          <a:ln w="9525">
            <a:solidFill>
              <a:srgbClr val="2E2E35"/>
            </a:solidFill>
            <a:prstDash val="solid"/>
          </a:ln>
        </p:spPr>
      </p:sp>
      <p:sp>
        <p:nvSpPr>
          <p:cNvPr id="4" name="Shape 2"/>
          <p:cNvSpPr/>
          <p:nvPr/>
        </p:nvSpPr>
        <p:spPr>
          <a:xfrm>
            <a:off x="822960" y="1965960"/>
            <a:ext cx="640080" cy="640080"/>
          </a:xfrm>
          <a:prstGeom prst="ellipse">
            <a:avLst/>
          </a:prstGeom>
          <a:solidFill>
            <a:srgbClr val="F7931A"/>
          </a:solidFill>
          <a:ln w="12700">
            <a:solidFill>
              <a:srgbClr val="F7931A"/>
            </a:solidFill>
            <a:prstDash val="solid"/>
          </a:ln>
        </p:spPr>
      </p:sp>
      <p:pic>
        <p:nvPicPr>
          <p:cNvPr id="5" name="Image 0" descr="preencoded.png">    </p:cNvPr>
          <p:cNvPicPr>
            <a:picLocks noChangeAspect="1"/>
          </p:cNvPicPr>
          <p:nvPr/>
        </p:nvPicPr>
        <p:blipFill>
          <a:blip r:embed="rId1"/>
          <a:stretch>
            <a:fillRect/>
          </a:stretch>
        </p:blipFill>
        <p:spPr>
          <a:xfrm>
            <a:off x="976579" y="2119579"/>
            <a:ext cx="332842" cy="332842"/>
          </a:xfrm>
          <a:prstGeom prst="rect">
            <a:avLst/>
          </a:prstGeom>
        </p:spPr>
      </p:pic>
      <p:sp>
        <p:nvSpPr>
          <p:cNvPr id="6" name="Text 3"/>
          <p:cNvSpPr txBox="1"/>
          <p:nvPr/>
        </p:nvSpPr>
        <p:spPr>
          <a:xfrm>
            <a:off x="822960" y="2788920"/>
            <a:ext cx="2966618" cy="64008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Energi</a:t>
            </a:r>
            <a:endParaRPr lang="en-US" sz="1800" dirty="0"/>
          </a:p>
        </p:txBody>
      </p:sp>
      <p:sp>
        <p:nvSpPr>
          <p:cNvPr id="7" name="Text 4"/>
          <p:cNvSpPr txBox="1"/>
          <p:nvPr/>
        </p:nvSpPr>
        <p:spPr>
          <a:xfrm>
            <a:off x="822960" y="3474720"/>
            <a:ext cx="2966618" cy="1325880"/>
          </a:xfrm>
          <a:prstGeom prst="rect">
            <a:avLst/>
          </a:prstGeom>
          <a:noFill/>
          <a:ln/>
        </p:spPr>
        <p:txBody>
          <a:bodyPr wrap="square" lIns="0" tIns="0" rIns="0" bIns="0" rtlCol="0" anchor="t"/>
          <a:lstStyle/>
          <a:p>
            <a:pPr indent="0" marL="0">
              <a:spcAft>
                <a:spcPts val="600"/>
              </a:spcAft>
              <a:buNone/>
            </a:pPr>
            <a:r>
              <a:rPr lang="en-US" sz="1500" dirty="0">
                <a:solidFill>
                  <a:srgbClr val="E4E4E7"/>
                </a:solidFill>
                <a:latin typeface="Calibri" pitchFamily="34" charset="0"/>
                <a:ea typeface="Calibri" pitchFamily="34" charset="-122"/>
                <a:cs typeface="Calibri" pitchFamily="34" charset="-120"/>
              </a:rPr>
              <a:t>Bitcoin brenner rundt 140 TWh i året, omtrent hele Norges strømforbruk, for å behandle rundt 7 transaksjoner i sekundet.</a:t>
            </a:r>
            <a:endParaRPr lang="en-US" sz="1500" dirty="0"/>
          </a:p>
        </p:txBody>
      </p:sp>
      <p:sp>
        <p:nvSpPr>
          <p:cNvPr id="8" name="Shape 5"/>
          <p:cNvSpPr/>
          <p:nvPr/>
        </p:nvSpPr>
        <p:spPr>
          <a:xfrm>
            <a:off x="4338218" y="1691640"/>
            <a:ext cx="3515258" cy="3383280"/>
          </a:xfrm>
          <a:prstGeom prst="roundRect">
            <a:avLst>
              <a:gd name="adj" fmla="val 3243"/>
            </a:avLst>
          </a:prstGeom>
          <a:solidFill>
            <a:srgbClr val="18181B"/>
          </a:solidFill>
          <a:ln w="9525">
            <a:solidFill>
              <a:srgbClr val="2E2E35"/>
            </a:solidFill>
            <a:prstDash val="solid"/>
          </a:ln>
        </p:spPr>
      </p:sp>
      <p:sp>
        <p:nvSpPr>
          <p:cNvPr id="9" name="Shape 6"/>
          <p:cNvSpPr/>
          <p:nvPr/>
        </p:nvSpPr>
        <p:spPr>
          <a:xfrm>
            <a:off x="4612538" y="1965960"/>
            <a:ext cx="640080" cy="640080"/>
          </a:xfrm>
          <a:prstGeom prst="ellipse">
            <a:avLst/>
          </a:prstGeom>
          <a:solidFill>
            <a:srgbClr val="F7931A"/>
          </a:solidFill>
          <a:ln w="12700">
            <a:solidFill>
              <a:srgbClr val="F7931A"/>
            </a:solidFill>
            <a:prstDash val="solid"/>
          </a:ln>
        </p:spPr>
      </p:sp>
      <p:pic>
        <p:nvPicPr>
          <p:cNvPr id="10" name="Image 1" descr="preencoded.png">    </p:cNvPr>
          <p:cNvPicPr>
            <a:picLocks noChangeAspect="1"/>
          </p:cNvPicPr>
          <p:nvPr/>
        </p:nvPicPr>
        <p:blipFill>
          <a:blip r:embed="rId2"/>
          <a:stretch>
            <a:fillRect/>
          </a:stretch>
        </p:blipFill>
        <p:spPr>
          <a:xfrm>
            <a:off x="4766158" y="2119579"/>
            <a:ext cx="332842" cy="332842"/>
          </a:xfrm>
          <a:prstGeom prst="rect">
            <a:avLst/>
          </a:prstGeom>
        </p:spPr>
      </p:pic>
      <p:sp>
        <p:nvSpPr>
          <p:cNvPr id="11" name="Text 7"/>
          <p:cNvSpPr txBox="1"/>
          <p:nvPr/>
        </p:nvSpPr>
        <p:spPr>
          <a:xfrm>
            <a:off x="4612538" y="2788920"/>
            <a:ext cx="2966618" cy="64008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E-avfall</a:t>
            </a:r>
            <a:endParaRPr lang="en-US" sz="1800" dirty="0"/>
          </a:p>
        </p:txBody>
      </p:sp>
      <p:sp>
        <p:nvSpPr>
          <p:cNvPr id="12" name="Text 8"/>
          <p:cNvSpPr txBox="1"/>
          <p:nvPr/>
        </p:nvSpPr>
        <p:spPr>
          <a:xfrm>
            <a:off x="4612538" y="3474720"/>
            <a:ext cx="2966618" cy="1325880"/>
          </a:xfrm>
          <a:prstGeom prst="rect">
            <a:avLst/>
          </a:prstGeom>
          <a:noFill/>
          <a:ln/>
        </p:spPr>
        <p:txBody>
          <a:bodyPr wrap="square" lIns="0" tIns="0" rIns="0" bIns="0" rtlCol="0" anchor="t"/>
          <a:lstStyle/>
          <a:p>
            <a:pPr indent="0" marL="0">
              <a:spcAft>
                <a:spcPts val="600"/>
              </a:spcAft>
              <a:buNone/>
            </a:pPr>
            <a:r>
              <a:rPr lang="en-US" sz="1500" dirty="0">
                <a:solidFill>
                  <a:srgbClr val="E4E4E7"/>
                </a:solidFill>
                <a:latin typeface="Calibri" pitchFamily="34" charset="0"/>
                <a:ea typeface="Calibri" pitchFamily="34" charset="-122"/>
                <a:cs typeface="Calibri" pitchFamily="34" charset="-120"/>
              </a:rPr>
              <a:t>Bitcoin-ASIC-er gjør én jobb, er utdaterte etter omtrent 1,3 år og skaper rundt 30 700 tonn elektronisk avfall i året.</a:t>
            </a:r>
            <a:endParaRPr lang="en-US" sz="1500" dirty="0"/>
          </a:p>
        </p:txBody>
      </p:sp>
      <p:sp>
        <p:nvSpPr>
          <p:cNvPr id="13" name="Shape 9"/>
          <p:cNvSpPr/>
          <p:nvPr/>
        </p:nvSpPr>
        <p:spPr>
          <a:xfrm>
            <a:off x="8127797" y="1691640"/>
            <a:ext cx="3515258" cy="3383280"/>
          </a:xfrm>
          <a:prstGeom prst="roundRect">
            <a:avLst>
              <a:gd name="adj" fmla="val 3243"/>
            </a:avLst>
          </a:prstGeom>
          <a:solidFill>
            <a:srgbClr val="18181B"/>
          </a:solidFill>
          <a:ln w="9525">
            <a:solidFill>
              <a:srgbClr val="2E2E35"/>
            </a:solidFill>
            <a:prstDash val="solid"/>
          </a:ln>
        </p:spPr>
      </p:sp>
      <p:sp>
        <p:nvSpPr>
          <p:cNvPr id="14" name="Shape 10"/>
          <p:cNvSpPr/>
          <p:nvPr/>
        </p:nvSpPr>
        <p:spPr>
          <a:xfrm>
            <a:off x="8402117" y="1965960"/>
            <a:ext cx="640080" cy="640080"/>
          </a:xfrm>
          <a:prstGeom prst="ellipse">
            <a:avLst/>
          </a:prstGeom>
          <a:solidFill>
            <a:srgbClr val="627EEA"/>
          </a:solidFill>
          <a:ln w="12700">
            <a:solidFill>
              <a:srgbClr val="627EEA"/>
            </a:solidFill>
            <a:prstDash val="solid"/>
          </a:ln>
        </p:spPr>
      </p:sp>
      <p:pic>
        <p:nvPicPr>
          <p:cNvPr id="15" name="Image 2" descr="preencoded.png">    </p:cNvPr>
          <p:cNvPicPr>
            <a:picLocks noChangeAspect="1"/>
          </p:cNvPicPr>
          <p:nvPr/>
        </p:nvPicPr>
        <p:blipFill>
          <a:blip r:embed="rId3"/>
          <a:stretch>
            <a:fillRect/>
          </a:stretch>
        </p:blipFill>
        <p:spPr>
          <a:xfrm>
            <a:off x="8555736" y="2119579"/>
            <a:ext cx="332842" cy="332842"/>
          </a:xfrm>
          <a:prstGeom prst="rect">
            <a:avLst/>
          </a:prstGeom>
        </p:spPr>
      </p:pic>
      <p:sp>
        <p:nvSpPr>
          <p:cNvPr id="16" name="Text 11"/>
          <p:cNvSpPr txBox="1"/>
          <p:nvPr/>
        </p:nvSpPr>
        <p:spPr>
          <a:xfrm>
            <a:off x="8402117" y="2788920"/>
            <a:ext cx="2966618" cy="64008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Finansialisering</a:t>
            </a:r>
            <a:endParaRPr lang="en-US" sz="1800" dirty="0"/>
          </a:p>
        </p:txBody>
      </p:sp>
      <p:sp>
        <p:nvSpPr>
          <p:cNvPr id="17" name="Text 12"/>
          <p:cNvSpPr txBox="1"/>
          <p:nvPr/>
        </p:nvSpPr>
        <p:spPr>
          <a:xfrm>
            <a:off x="8402117" y="3474720"/>
            <a:ext cx="2966618" cy="1325880"/>
          </a:xfrm>
          <a:prstGeom prst="rect">
            <a:avLst/>
          </a:prstGeom>
          <a:noFill/>
          <a:ln/>
        </p:spPr>
        <p:txBody>
          <a:bodyPr wrap="square" lIns="0" tIns="0" rIns="0" bIns="0" rtlCol="0" anchor="t"/>
          <a:lstStyle/>
          <a:p>
            <a:pPr indent="0" marL="0">
              <a:spcAft>
                <a:spcPts val="600"/>
              </a:spcAft>
              <a:buNone/>
            </a:pPr>
            <a:r>
              <a:rPr lang="en-US" sz="1500" dirty="0">
                <a:solidFill>
                  <a:srgbClr val="E4E4E7"/>
                </a:solidFill>
                <a:latin typeface="Calibri" pitchFamily="34" charset="0"/>
                <a:ea typeface="Calibri" pitchFamily="34" charset="-122"/>
                <a:cs typeface="Calibri" pitchFamily="34" charset="-120"/>
              </a:rPr>
              <a:t>Premine, ICO-er og staking-avkastning gir gevinsten til innsidere. NFT-gassauksjoner gjør en enkel gjenstand til et spekulasjonsmarked.</a:t>
            </a:r>
            <a:endParaRPr lang="en-US" sz="1500" dirty="0"/>
          </a:p>
        </p:txBody>
      </p:sp>
      <p:sp>
        <p:nvSpPr>
          <p:cNvPr id="18" name="Text 13"/>
          <p:cNvSpPr txBox="1"/>
          <p:nvPr/>
        </p:nvSpPr>
        <p:spPr>
          <a:xfrm>
            <a:off x="548640" y="5440680"/>
            <a:ext cx="11094415" cy="457200"/>
          </a:xfrm>
          <a:prstGeom prst="rect">
            <a:avLst/>
          </a:prstGeom>
          <a:noFill/>
          <a:ln/>
        </p:spPr>
        <p:txBody>
          <a:bodyPr wrap="square" lIns="0" tIns="0" rIns="0" bIns="0" rtlCol="0" anchor="ctr"/>
          <a:lstStyle/>
          <a:p>
            <a:pPr indent="0" marL="0">
              <a:buNone/>
            </a:pPr>
            <a:r>
              <a:rPr lang="en-US" sz="1800" i="1" dirty="0">
                <a:solidFill>
                  <a:srgbClr val="F2CD3A"/>
                </a:solidFill>
                <a:latin typeface="Calibri" pitchFamily="34" charset="0"/>
                <a:ea typeface="Calibri" pitchFamily="34" charset="-122"/>
                <a:cs typeface="Calibri" pitchFamily="34" charset="-120"/>
              </a:rPr>
              <a:t>Nexa ble designet fra starten for å unngå alle tre. Slik.</a:t>
            </a:r>
            <a:endParaRPr lang="en-US" sz="1800" dirty="0"/>
          </a:p>
        </p:txBody>
      </p:sp>
      <p:pic>
        <p:nvPicPr>
          <p:cNvPr id="20" name="Image 3" descr="preencoded.png">    </p:cNvPr>
          <p:cNvPicPr>
            <a:picLocks noChangeAspect="1"/>
          </p:cNvPicPr>
          <p:nvPr/>
        </p:nvPicPr>
        <p:blipFill>
          <a:blip r:embed="rId4"/>
          <a:stretch>
            <a:fillRect/>
          </a:stretch>
        </p:blipFill>
        <p:spPr>
          <a:xfrm>
            <a:off x="548640" y="6355080"/>
            <a:ext cx="256032" cy="246888"/>
          </a:xfrm>
          <a:prstGeom prst="rect">
            <a:avLst/>
          </a:prstGeom>
        </p:spPr>
      </p:pic>
      <p:sp>
        <p:nvSpPr>
          <p:cNvPr id="21" name="Text 14"/>
          <p:cNvSpPr txBox="1"/>
          <p:nvPr/>
        </p:nvSpPr>
        <p:spPr>
          <a:xfrm>
            <a:off x="877824" y="6400800"/>
            <a:ext cx="2743200" cy="274320"/>
          </a:xfrm>
          <a:prstGeom prst="rect">
            <a:avLst/>
          </a:prstGeom>
          <a:noFill/>
          <a:ln/>
        </p:spPr>
        <p:txBody>
          <a:bodyPr wrap="square" lIns="0" tIns="0" rIns="0" bIns="0" rtlCol="0" anchor="ctr"/>
          <a:lstStyle/>
          <a:p>
            <a:pPr algn="l" indent="0" marL="0">
              <a:buNone/>
            </a:pPr>
            <a:r>
              <a:rPr lang="en-US" sz="1000" dirty="0">
                <a:solidFill>
                  <a:srgbClr val="A1A1AA"/>
                </a:solidFill>
                <a:latin typeface="Calibri" pitchFamily="34" charset="0"/>
                <a:ea typeface="Calibri" pitchFamily="34" charset="-122"/>
                <a:cs typeface="Calibri" pitchFamily="34" charset="-120"/>
              </a:rPr>
              <a:t>Nexa · 2026</a:t>
            </a:r>
            <a:endParaRPr lang="en-US" sz="1000" dirty="0"/>
          </a:p>
        </p:txBody>
      </p:sp>
      <p:sp>
        <p:nvSpPr>
          <p:cNvPr id="22" name="Text 15"/>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A1A1AA"/>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1005840"/>
          </a:xfrm>
          <a:prstGeom prst="rect">
            <a:avLst/>
          </a:prstGeom>
          <a:noFill/>
          <a:ln/>
        </p:spPr>
        <p:txBody>
          <a:bodyPr wrap="square" lIns="0" tIns="0" rIns="0" bIns="0" rtlCol="0" anchor="t"/>
          <a:lstStyle/>
          <a:p>
            <a:pPr algn="l" indent="0" marL="0">
              <a:buNone/>
            </a:pPr>
            <a:r>
              <a:rPr lang="en-US" sz="3000" b="1" dirty="0">
                <a:solidFill>
                  <a:srgbClr val="FFFFFF"/>
                </a:solidFill>
                <a:latin typeface="Calibri" pitchFamily="34" charset="0"/>
                <a:ea typeface="Calibri" pitchFamily="34" charset="-122"/>
                <a:cs typeface="Calibri" pitchFamily="34" charset="-120"/>
              </a:rPr>
              <a:t>I stor skala er Nexa inntil 13 000× mer energieffektiv enn Bitcoin</a:t>
            </a:r>
            <a:endParaRPr lang="en-US" sz="3000" dirty="0"/>
          </a:p>
        </p:txBody>
      </p:sp>
      <p:sp>
        <p:nvSpPr>
          <p:cNvPr id="3" name="Shape 1"/>
          <p:cNvSpPr/>
          <p:nvPr/>
        </p:nvSpPr>
        <p:spPr>
          <a:xfrm>
            <a:off x="548640" y="1737360"/>
            <a:ext cx="3515258" cy="1828800"/>
          </a:xfrm>
          <a:prstGeom prst="roundRect">
            <a:avLst>
              <a:gd name="adj" fmla="val 6000"/>
            </a:avLst>
          </a:prstGeom>
          <a:solidFill>
            <a:srgbClr val="2A1A0C"/>
          </a:solidFill>
          <a:ln w="9525">
            <a:solidFill>
              <a:srgbClr val="2E2E35"/>
            </a:solidFill>
            <a:prstDash val="solid"/>
          </a:ln>
        </p:spPr>
      </p:sp>
      <p:sp>
        <p:nvSpPr>
          <p:cNvPr id="4" name="Text 2"/>
          <p:cNvSpPr txBox="1"/>
          <p:nvPr/>
        </p:nvSpPr>
        <p:spPr>
          <a:xfrm>
            <a:off x="822960" y="1920240"/>
            <a:ext cx="2966618" cy="320040"/>
          </a:xfrm>
          <a:prstGeom prst="rect">
            <a:avLst/>
          </a:prstGeom>
          <a:noFill/>
          <a:ln/>
        </p:spPr>
        <p:txBody>
          <a:bodyPr wrap="square" lIns="0" tIns="0" rIns="0" bIns="0" rtlCol="0" anchor="ctr"/>
          <a:lstStyle/>
          <a:p>
            <a:pPr indent="0" marL="0">
              <a:buNone/>
            </a:pPr>
            <a:r>
              <a:rPr lang="en-US" sz="1200" b="1" spc="100" kern="0" dirty="0">
                <a:solidFill>
                  <a:srgbClr val="F7931A"/>
                </a:solidFill>
                <a:latin typeface="Calibri" pitchFamily="34" charset="0"/>
                <a:ea typeface="Calibri" pitchFamily="34" charset="-122"/>
                <a:cs typeface="Calibri" pitchFamily="34" charset="-120"/>
              </a:rPr>
              <a:t>BITCOIN</a:t>
            </a:r>
            <a:endParaRPr lang="en-US" sz="1200" dirty="0"/>
          </a:p>
        </p:txBody>
      </p:sp>
      <p:sp>
        <p:nvSpPr>
          <p:cNvPr id="5" name="Text 3"/>
          <p:cNvSpPr txBox="1"/>
          <p:nvPr/>
        </p:nvSpPr>
        <p:spPr>
          <a:xfrm>
            <a:off x="822960" y="2240280"/>
            <a:ext cx="2966618" cy="8229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580 kWh</a:t>
            </a:r>
            <a:endParaRPr lang="en-US" sz="4000" dirty="0"/>
          </a:p>
        </p:txBody>
      </p:sp>
      <p:sp>
        <p:nvSpPr>
          <p:cNvPr id="6" name="Text 4"/>
          <p:cNvSpPr txBox="1"/>
          <p:nvPr/>
        </p:nvSpPr>
        <p:spPr>
          <a:xfrm>
            <a:off x="822960" y="3063240"/>
            <a:ext cx="2966618" cy="411480"/>
          </a:xfrm>
          <a:prstGeom prst="rect">
            <a:avLst/>
          </a:prstGeom>
          <a:noFill/>
          <a:ln/>
        </p:spPr>
        <p:txBody>
          <a:bodyPr wrap="square" lIns="0" tIns="0" rIns="0" bIns="0" rtlCol="0" anchor="t"/>
          <a:lstStyle/>
          <a:p>
            <a:pPr indent="0" marL="0">
              <a:buNone/>
            </a:pPr>
            <a:r>
              <a:rPr lang="en-US" sz="1200" dirty="0">
                <a:solidFill>
                  <a:srgbClr val="A1A1AA"/>
                </a:solidFill>
                <a:latin typeface="Calibri" pitchFamily="34" charset="0"/>
                <a:ea typeface="Calibri" pitchFamily="34" charset="-122"/>
                <a:cs typeface="Calibri" pitchFamily="34" charset="-120"/>
              </a:rPr>
              <a:t>per transaksjon · to ukers strømforbruk for en husholdning</a:t>
            </a:r>
            <a:endParaRPr lang="en-US" sz="1200" dirty="0"/>
          </a:p>
        </p:txBody>
      </p:sp>
      <p:sp>
        <p:nvSpPr>
          <p:cNvPr id="7" name="Shape 5"/>
          <p:cNvSpPr/>
          <p:nvPr/>
        </p:nvSpPr>
        <p:spPr>
          <a:xfrm>
            <a:off x="4338218" y="1737360"/>
            <a:ext cx="3515258" cy="1828800"/>
          </a:xfrm>
          <a:prstGeom prst="roundRect">
            <a:avLst>
              <a:gd name="adj" fmla="val 6000"/>
            </a:avLst>
          </a:prstGeom>
          <a:solidFill>
            <a:srgbClr val="26210F"/>
          </a:solidFill>
          <a:ln w="9525">
            <a:solidFill>
              <a:srgbClr val="2E2E35"/>
            </a:solidFill>
            <a:prstDash val="solid"/>
          </a:ln>
        </p:spPr>
      </p:sp>
      <p:sp>
        <p:nvSpPr>
          <p:cNvPr id="8" name="Text 6"/>
          <p:cNvSpPr txBox="1"/>
          <p:nvPr/>
        </p:nvSpPr>
        <p:spPr>
          <a:xfrm>
            <a:off x="4612538" y="1920240"/>
            <a:ext cx="2966618" cy="320040"/>
          </a:xfrm>
          <a:prstGeom prst="rect">
            <a:avLst/>
          </a:prstGeom>
          <a:noFill/>
          <a:ln/>
        </p:spPr>
        <p:txBody>
          <a:bodyPr wrap="square" lIns="0" tIns="0" rIns="0" bIns="0" rtlCol="0" anchor="ctr"/>
          <a:lstStyle/>
          <a:p>
            <a:pPr indent="0" marL="0">
              <a:buNone/>
            </a:pPr>
            <a:r>
              <a:rPr lang="en-US" sz="1200" b="1" spc="100" kern="0" dirty="0">
                <a:solidFill>
                  <a:srgbClr val="F2CD3A"/>
                </a:solidFill>
                <a:latin typeface="Calibri" pitchFamily="34" charset="0"/>
                <a:ea typeface="Calibri" pitchFamily="34" charset="-122"/>
                <a:cs typeface="Calibri" pitchFamily="34" charset="-120"/>
              </a:rPr>
              <a:t>NEXA I DAG</a:t>
            </a:r>
            <a:endParaRPr lang="en-US" sz="1200" dirty="0"/>
          </a:p>
        </p:txBody>
      </p:sp>
      <p:sp>
        <p:nvSpPr>
          <p:cNvPr id="9" name="Text 7"/>
          <p:cNvSpPr txBox="1"/>
          <p:nvPr/>
        </p:nvSpPr>
        <p:spPr>
          <a:xfrm>
            <a:off x="4612538" y="2240280"/>
            <a:ext cx="2966618" cy="8229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0,104 kWh</a:t>
            </a:r>
            <a:endParaRPr lang="en-US" sz="4000" dirty="0"/>
          </a:p>
        </p:txBody>
      </p:sp>
      <p:sp>
        <p:nvSpPr>
          <p:cNvPr id="10" name="Text 8"/>
          <p:cNvSpPr txBox="1"/>
          <p:nvPr/>
        </p:nvSpPr>
        <p:spPr>
          <a:xfrm>
            <a:off x="4612538" y="3063240"/>
            <a:ext cx="2966618" cy="411480"/>
          </a:xfrm>
          <a:prstGeom prst="rect">
            <a:avLst/>
          </a:prstGeom>
          <a:noFill/>
          <a:ln/>
        </p:spPr>
        <p:txBody>
          <a:bodyPr wrap="square" lIns="0" tIns="0" rIns="0" bIns="0" rtlCol="0" anchor="t"/>
          <a:lstStyle/>
          <a:p>
            <a:pPr indent="0" marL="0">
              <a:buNone/>
            </a:pPr>
            <a:r>
              <a:rPr lang="en-US" sz="1200" dirty="0">
                <a:solidFill>
                  <a:srgbClr val="A1A1AA"/>
                </a:solidFill>
                <a:latin typeface="Calibri" pitchFamily="34" charset="0"/>
                <a:ea typeface="Calibri" pitchFamily="34" charset="-122"/>
                <a:cs typeface="Calibri" pitchFamily="34" charset="-120"/>
              </a:rPr>
              <a:t>ved 42 000 TPS målt · rundt 5 600× mindre</a:t>
            </a:r>
            <a:endParaRPr lang="en-US" sz="1200" dirty="0"/>
          </a:p>
        </p:txBody>
      </p:sp>
      <p:sp>
        <p:nvSpPr>
          <p:cNvPr id="11" name="Shape 9"/>
          <p:cNvSpPr/>
          <p:nvPr/>
        </p:nvSpPr>
        <p:spPr>
          <a:xfrm>
            <a:off x="8127797" y="1737360"/>
            <a:ext cx="3515258" cy="1828800"/>
          </a:xfrm>
          <a:prstGeom prst="roundRect">
            <a:avLst>
              <a:gd name="adj" fmla="val 6000"/>
            </a:avLst>
          </a:prstGeom>
          <a:solidFill>
            <a:srgbClr val="26210F"/>
          </a:solidFill>
          <a:ln w="9525">
            <a:solidFill>
              <a:srgbClr val="2E2E35"/>
            </a:solidFill>
            <a:prstDash val="solid"/>
          </a:ln>
        </p:spPr>
      </p:sp>
      <p:sp>
        <p:nvSpPr>
          <p:cNvPr id="12" name="Text 10"/>
          <p:cNvSpPr txBox="1"/>
          <p:nvPr/>
        </p:nvSpPr>
        <p:spPr>
          <a:xfrm>
            <a:off x="8402117" y="1920240"/>
            <a:ext cx="2966618" cy="320040"/>
          </a:xfrm>
          <a:prstGeom prst="rect">
            <a:avLst/>
          </a:prstGeom>
          <a:noFill/>
          <a:ln/>
        </p:spPr>
        <p:txBody>
          <a:bodyPr wrap="square" lIns="0" tIns="0" rIns="0" bIns="0" rtlCol="0" anchor="ctr"/>
          <a:lstStyle/>
          <a:p>
            <a:pPr indent="0" marL="0">
              <a:buNone/>
            </a:pPr>
            <a:r>
              <a:rPr lang="en-US" sz="1200" b="1" spc="100" kern="0" dirty="0">
                <a:solidFill>
                  <a:srgbClr val="F2CD3A"/>
                </a:solidFill>
                <a:latin typeface="Calibri" pitchFamily="34" charset="0"/>
                <a:ea typeface="Calibri" pitchFamily="34" charset="-122"/>
                <a:cs typeface="Calibri" pitchFamily="34" charset="-120"/>
              </a:rPr>
              <a:t>NEXA + BLITZ</a:t>
            </a:r>
            <a:endParaRPr lang="en-US" sz="1200" dirty="0"/>
          </a:p>
        </p:txBody>
      </p:sp>
      <p:sp>
        <p:nvSpPr>
          <p:cNvPr id="13" name="Text 11"/>
          <p:cNvSpPr txBox="1"/>
          <p:nvPr/>
        </p:nvSpPr>
        <p:spPr>
          <a:xfrm>
            <a:off x="8402117" y="2240280"/>
            <a:ext cx="2966618" cy="8229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0,044 kWh</a:t>
            </a:r>
            <a:endParaRPr lang="en-US" sz="4000" dirty="0"/>
          </a:p>
        </p:txBody>
      </p:sp>
      <p:sp>
        <p:nvSpPr>
          <p:cNvPr id="14" name="Text 12"/>
          <p:cNvSpPr txBox="1"/>
          <p:nvPr/>
        </p:nvSpPr>
        <p:spPr>
          <a:xfrm>
            <a:off x="8402117" y="3063240"/>
            <a:ext cx="2966618" cy="411480"/>
          </a:xfrm>
          <a:prstGeom prst="rect">
            <a:avLst/>
          </a:prstGeom>
          <a:noFill/>
          <a:ln/>
        </p:spPr>
        <p:txBody>
          <a:bodyPr wrap="square" lIns="0" tIns="0" rIns="0" bIns="0" rtlCol="0" anchor="t"/>
          <a:lstStyle/>
          <a:p>
            <a:pPr indent="0" marL="0">
              <a:buNone/>
            </a:pPr>
            <a:r>
              <a:rPr lang="en-US" sz="1200" dirty="0">
                <a:solidFill>
                  <a:srgbClr val="A1A1AA"/>
                </a:solidFill>
                <a:latin typeface="Calibri" pitchFamily="34" charset="0"/>
                <a:ea typeface="Calibri" pitchFamily="34" charset="-122"/>
                <a:cs typeface="Calibri" pitchFamily="34" charset="-120"/>
              </a:rPr>
              <a:t>ved 100 000 TPS anslått · to mobilladinger</a:t>
            </a:r>
            <a:endParaRPr lang="en-US" sz="1200" dirty="0"/>
          </a:p>
        </p:txBody>
      </p:sp>
      <p:sp>
        <p:nvSpPr>
          <p:cNvPr id="15" name="Shape 13"/>
          <p:cNvSpPr/>
          <p:nvPr/>
        </p:nvSpPr>
        <p:spPr>
          <a:xfrm>
            <a:off x="548640" y="3931920"/>
            <a:ext cx="384048" cy="384048"/>
          </a:xfrm>
          <a:prstGeom prst="ellipse">
            <a:avLst/>
          </a:prstGeom>
          <a:solidFill>
            <a:srgbClr val="F2CD3A"/>
          </a:solidFill>
          <a:ln w="12700">
            <a:solidFill>
              <a:srgbClr val="F2CD3A"/>
            </a:solidFill>
            <a:prstDash val="solid"/>
          </a:ln>
        </p:spPr>
      </p:sp>
      <p:sp>
        <p:nvSpPr>
          <p:cNvPr id="16" name="Text 14"/>
          <p:cNvSpPr txBox="1"/>
          <p:nvPr/>
        </p:nvSpPr>
        <p:spPr>
          <a:xfrm>
            <a:off x="548640" y="3931920"/>
            <a:ext cx="384048" cy="384048"/>
          </a:xfrm>
          <a:prstGeom prst="rect">
            <a:avLst/>
          </a:prstGeom>
          <a:noFill/>
          <a:ln/>
        </p:spPr>
        <p:txBody>
          <a:bodyPr wrap="square" lIns="0" tIns="0" rIns="0" bIns="0" rtlCol="0" anchor="ctr"/>
          <a:lstStyle/>
          <a:p>
            <a:pPr algn="ctr" indent="0" marL="0">
              <a:buNone/>
            </a:pPr>
            <a:r>
              <a:rPr lang="en-US" sz="1400" b="1" dirty="0">
                <a:solidFill>
                  <a:srgbClr val="0A0A0F"/>
                </a:solidFill>
                <a:latin typeface="Calibri" pitchFamily="34" charset="0"/>
                <a:ea typeface="Calibri" pitchFamily="34" charset="-122"/>
                <a:cs typeface="Calibri" pitchFamily="34" charset="-120"/>
              </a:rPr>
              <a:t>1</a:t>
            </a:r>
            <a:endParaRPr lang="en-US" sz="1400" dirty="0"/>
          </a:p>
        </p:txBody>
      </p:sp>
      <p:sp>
        <p:nvSpPr>
          <p:cNvPr id="17" name="Text 15"/>
          <p:cNvSpPr txBox="1"/>
          <p:nvPr/>
        </p:nvSpPr>
        <p:spPr>
          <a:xfrm>
            <a:off x="1097280" y="3913632"/>
            <a:ext cx="2966618" cy="2103120"/>
          </a:xfrm>
          <a:prstGeom prst="rect">
            <a:avLst/>
          </a:prstGeom>
          <a:noFill/>
          <a:ln/>
        </p:spPr>
        <p:txBody>
          <a:bodyPr wrap="square" lIns="0" tIns="0" rIns="0" bIns="0" rtlCol="0" anchor="t"/>
          <a:lstStyle/>
          <a:p>
            <a:pPr indent="0" marL="0">
              <a:buNone/>
            </a:pPr>
            <a:r>
              <a:rPr lang="en-US" sz="1500" dirty="0">
                <a:solidFill>
                  <a:srgbClr val="E4E4E7"/>
                </a:solidFill>
                <a:latin typeface="Calibri" pitchFamily="34" charset="0"/>
                <a:ea typeface="Calibri" pitchFamily="34" charset="-122"/>
                <a:cs typeface="Calibri" pitchFamily="34" charset="-120"/>
              </a:rPr>
              <a:t>Minerne brenner det blokkbelønningen betaler for, enten kjeden bærer 10 eller 10 millioner transaksjoner. Energi per transaksjon er derfor rett og slett nettverkets strømforbruk delt på gjennomstrømningen.</a:t>
            </a:r>
            <a:endParaRPr lang="en-US" sz="1500" dirty="0"/>
          </a:p>
        </p:txBody>
      </p:sp>
      <p:sp>
        <p:nvSpPr>
          <p:cNvPr id="18" name="Shape 16"/>
          <p:cNvSpPr/>
          <p:nvPr/>
        </p:nvSpPr>
        <p:spPr>
          <a:xfrm>
            <a:off x="4338218" y="3931920"/>
            <a:ext cx="384048" cy="384048"/>
          </a:xfrm>
          <a:prstGeom prst="ellipse">
            <a:avLst/>
          </a:prstGeom>
          <a:solidFill>
            <a:srgbClr val="F2CD3A"/>
          </a:solidFill>
          <a:ln w="12700">
            <a:solidFill>
              <a:srgbClr val="F2CD3A"/>
            </a:solidFill>
            <a:prstDash val="solid"/>
          </a:ln>
        </p:spPr>
      </p:sp>
      <p:sp>
        <p:nvSpPr>
          <p:cNvPr id="19" name="Text 17"/>
          <p:cNvSpPr txBox="1"/>
          <p:nvPr/>
        </p:nvSpPr>
        <p:spPr>
          <a:xfrm>
            <a:off x="4338218" y="3931920"/>
            <a:ext cx="384048" cy="384048"/>
          </a:xfrm>
          <a:prstGeom prst="rect">
            <a:avLst/>
          </a:prstGeom>
          <a:noFill/>
          <a:ln/>
        </p:spPr>
        <p:txBody>
          <a:bodyPr wrap="square" lIns="0" tIns="0" rIns="0" bIns="0" rtlCol="0" anchor="ctr"/>
          <a:lstStyle/>
          <a:p>
            <a:pPr algn="ctr" indent="0" marL="0">
              <a:buNone/>
            </a:pPr>
            <a:r>
              <a:rPr lang="en-US" sz="1400" b="1" dirty="0">
                <a:solidFill>
                  <a:srgbClr val="0A0A0F"/>
                </a:solidFill>
                <a:latin typeface="Calibri" pitchFamily="34" charset="0"/>
                <a:ea typeface="Calibri" pitchFamily="34" charset="-122"/>
                <a:cs typeface="Calibri" pitchFamily="34" charset="-120"/>
              </a:rPr>
              <a:t>2</a:t>
            </a:r>
            <a:endParaRPr lang="en-US" sz="1400" dirty="0"/>
          </a:p>
        </p:txBody>
      </p:sp>
      <p:sp>
        <p:nvSpPr>
          <p:cNvPr id="20" name="Text 18"/>
          <p:cNvSpPr txBox="1"/>
          <p:nvPr/>
        </p:nvSpPr>
        <p:spPr>
          <a:xfrm>
            <a:off x="4886858" y="3913632"/>
            <a:ext cx="2966618" cy="2103120"/>
          </a:xfrm>
          <a:prstGeom prst="rect">
            <a:avLst/>
          </a:prstGeom>
          <a:noFill/>
          <a:ln/>
        </p:spPr>
        <p:txBody>
          <a:bodyPr wrap="square" lIns="0" tIns="0" rIns="0" bIns="0" rtlCol="0" anchor="t"/>
          <a:lstStyle/>
          <a:p>
            <a:pPr indent="0" marL="0">
              <a:buNone/>
            </a:pPr>
            <a:r>
              <a:rPr lang="en-US" sz="1500" dirty="0">
                <a:solidFill>
                  <a:srgbClr val="E4E4E7"/>
                </a:solidFill>
                <a:latin typeface="Calibri" pitchFamily="34" charset="0"/>
                <a:ea typeface="Calibri" pitchFamily="34" charset="-122"/>
                <a:cs typeface="Calibri" pitchFamily="34" charset="-120"/>
              </a:rPr>
              <a:t>Bitcoin: 138 TWh i året ved 7,5 TPS gir 580 kWh per transaksjon. Samme strøm på Nexa ved 42 000 TPS gir 0,104 kWh; ved 100 000 TPS med Blitz, 0,044 kWh.</a:t>
            </a:r>
            <a:endParaRPr lang="en-US" sz="1500" dirty="0"/>
          </a:p>
        </p:txBody>
      </p:sp>
      <p:sp>
        <p:nvSpPr>
          <p:cNvPr id="21" name="Shape 19"/>
          <p:cNvSpPr/>
          <p:nvPr/>
        </p:nvSpPr>
        <p:spPr>
          <a:xfrm>
            <a:off x="8127797" y="3931920"/>
            <a:ext cx="384048" cy="384048"/>
          </a:xfrm>
          <a:prstGeom prst="ellipse">
            <a:avLst/>
          </a:prstGeom>
          <a:solidFill>
            <a:srgbClr val="F2CD3A"/>
          </a:solidFill>
          <a:ln w="12700">
            <a:solidFill>
              <a:srgbClr val="F2CD3A"/>
            </a:solidFill>
            <a:prstDash val="solid"/>
          </a:ln>
        </p:spPr>
      </p:sp>
      <p:sp>
        <p:nvSpPr>
          <p:cNvPr id="22" name="Text 20"/>
          <p:cNvSpPr txBox="1"/>
          <p:nvPr/>
        </p:nvSpPr>
        <p:spPr>
          <a:xfrm>
            <a:off x="8127797" y="3931920"/>
            <a:ext cx="384048" cy="384048"/>
          </a:xfrm>
          <a:prstGeom prst="rect">
            <a:avLst/>
          </a:prstGeom>
          <a:noFill/>
          <a:ln/>
        </p:spPr>
        <p:txBody>
          <a:bodyPr wrap="square" lIns="0" tIns="0" rIns="0" bIns="0" rtlCol="0" anchor="ctr"/>
          <a:lstStyle/>
          <a:p>
            <a:pPr algn="ctr" indent="0" marL="0">
              <a:buNone/>
            </a:pPr>
            <a:r>
              <a:rPr lang="en-US" sz="1400" b="1" dirty="0">
                <a:solidFill>
                  <a:srgbClr val="0A0A0F"/>
                </a:solidFill>
                <a:latin typeface="Calibri" pitchFamily="34" charset="0"/>
                <a:ea typeface="Calibri" pitchFamily="34" charset="-122"/>
                <a:cs typeface="Calibri" pitchFamily="34" charset="-120"/>
              </a:rPr>
              <a:t>3</a:t>
            </a:r>
            <a:endParaRPr lang="en-US" sz="1400" dirty="0"/>
          </a:p>
        </p:txBody>
      </p:sp>
      <p:sp>
        <p:nvSpPr>
          <p:cNvPr id="23" name="Text 21"/>
          <p:cNvSpPr txBox="1"/>
          <p:nvPr/>
        </p:nvSpPr>
        <p:spPr>
          <a:xfrm>
            <a:off x="8676437" y="3913632"/>
            <a:ext cx="2966618" cy="2103120"/>
          </a:xfrm>
          <a:prstGeom prst="rect">
            <a:avLst/>
          </a:prstGeom>
          <a:noFill/>
          <a:ln/>
        </p:spPr>
        <p:txBody>
          <a:bodyPr wrap="square" lIns="0" tIns="0" rIns="0" bIns="0" rtlCol="0" anchor="t"/>
          <a:lstStyle/>
          <a:p>
            <a:pPr indent="0" marL="0">
              <a:buNone/>
            </a:pPr>
            <a:r>
              <a:rPr lang="en-US" sz="1500" dirty="0">
                <a:solidFill>
                  <a:srgbClr val="E4E4E7"/>
                </a:solidFill>
                <a:latin typeface="Calibri" pitchFamily="34" charset="0"/>
                <a:ea typeface="Calibri" pitchFamily="34" charset="-122"/>
                <a:cs typeface="Calibri" pitchFamily="34" charset="-120"/>
              </a:rPr>
              <a:t>Bitcoins protokoll stopper ved 7 til 14 TPS. Selv på sin travleste dag noensinne trengte den 425 kWh per transaksjon. Gapet kan aldri bli mindre enn rundt 1 000×.</a:t>
            </a:r>
            <a:endParaRPr lang="en-US" sz="1500" dirty="0"/>
          </a:p>
        </p:txBody>
      </p:sp>
      <p:pic>
        <p:nvPicPr>
          <p:cNvPr id="25" name="Image 0" descr="preencoded.png">    </p:cNvPr>
          <p:cNvPicPr>
            <a:picLocks noChangeAspect="1"/>
          </p:cNvPicPr>
          <p:nvPr/>
        </p:nvPicPr>
        <p:blipFill>
          <a:blip r:embed="rId1"/>
          <a:stretch>
            <a:fillRect/>
          </a:stretch>
        </p:blipFill>
        <p:spPr>
          <a:xfrm>
            <a:off x="548640" y="6355080"/>
            <a:ext cx="256032" cy="246888"/>
          </a:xfrm>
          <a:prstGeom prst="rect">
            <a:avLst/>
          </a:prstGeom>
        </p:spPr>
      </p:pic>
      <p:sp>
        <p:nvSpPr>
          <p:cNvPr id="26" name="Text 22"/>
          <p:cNvSpPr txBox="1"/>
          <p:nvPr/>
        </p:nvSpPr>
        <p:spPr>
          <a:xfrm>
            <a:off x="877824" y="6400800"/>
            <a:ext cx="2743200" cy="274320"/>
          </a:xfrm>
          <a:prstGeom prst="rect">
            <a:avLst/>
          </a:prstGeom>
          <a:noFill/>
          <a:ln/>
        </p:spPr>
        <p:txBody>
          <a:bodyPr wrap="square" lIns="0" tIns="0" rIns="0" bIns="0" rtlCol="0" anchor="ctr"/>
          <a:lstStyle/>
          <a:p>
            <a:pPr algn="l" indent="0" marL="0">
              <a:buNone/>
            </a:pPr>
            <a:r>
              <a:rPr lang="en-US" sz="1000" dirty="0">
                <a:solidFill>
                  <a:srgbClr val="A1A1AA"/>
                </a:solidFill>
                <a:latin typeface="Calibri" pitchFamily="34" charset="0"/>
                <a:ea typeface="Calibri" pitchFamily="34" charset="-122"/>
                <a:cs typeface="Calibri" pitchFamily="34" charset="-120"/>
              </a:rPr>
              <a:t>Nexa · 2026</a:t>
            </a:r>
            <a:endParaRPr lang="en-US" sz="1000" dirty="0"/>
          </a:p>
        </p:txBody>
      </p:sp>
      <p:sp>
        <p:nvSpPr>
          <p:cNvPr id="27" name="Text 23"/>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A1A1AA"/>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1005840"/>
          </a:xfrm>
          <a:prstGeom prst="rect">
            <a:avLst/>
          </a:prstGeom>
          <a:noFill/>
          <a:ln/>
        </p:spPr>
        <p:txBody>
          <a:bodyPr wrap="square" lIns="0" tIns="0" rIns="0" bIns="0" rtlCol="0" anchor="t"/>
          <a:lstStyle/>
          <a:p>
            <a:pPr algn="l" indent="0" marL="0">
              <a:buNone/>
            </a:pPr>
            <a:r>
              <a:rPr lang="en-US" sz="3000" b="1" dirty="0">
                <a:solidFill>
                  <a:srgbClr val="FFFFFF"/>
                </a:solidFill>
                <a:latin typeface="Calibri" pitchFamily="34" charset="0"/>
                <a:ea typeface="Calibri" pitchFamily="34" charset="-122"/>
                <a:cs typeface="Calibri" pitchFamily="34" charset="-120"/>
              </a:rPr>
              <a:t>Samme joule, ulik nevner</a:t>
            </a:r>
            <a:endParaRPr lang="en-US" sz="3000" dirty="0"/>
          </a:p>
        </p:txBody>
      </p:sp>
      <p:pic>
        <p:nvPicPr>
          <p:cNvPr id="3" name="Image 0" descr="preencoded.png">    </p:cNvPr>
          <p:cNvPicPr>
            <a:picLocks noChangeAspect="1"/>
          </p:cNvPicPr>
          <p:nvPr/>
        </p:nvPicPr>
        <p:blipFill>
          <a:blip r:embed="rId1"/>
          <a:stretch>
            <a:fillRect/>
          </a:stretch>
        </p:blipFill>
        <p:spPr>
          <a:xfrm>
            <a:off x="1956429" y="1097280"/>
            <a:ext cx="8278837" cy="4892040"/>
          </a:xfrm>
          <a:prstGeom prst="rect">
            <a:avLst/>
          </a:prstGeom>
        </p:spPr>
      </p:pic>
      <p:sp>
        <p:nvSpPr>
          <p:cNvPr id="4" name="Text 1"/>
          <p:cNvSpPr txBox="1"/>
          <p:nvPr/>
        </p:nvSpPr>
        <p:spPr>
          <a:xfrm>
            <a:off x="548640" y="6035040"/>
            <a:ext cx="11094415" cy="329184"/>
          </a:xfrm>
          <a:prstGeom prst="rect">
            <a:avLst/>
          </a:prstGeom>
          <a:noFill/>
          <a:ln/>
        </p:spPr>
        <p:txBody>
          <a:bodyPr wrap="square" lIns="0" tIns="0" rIns="0" bIns="0" rtlCol="0" anchor="ctr"/>
          <a:lstStyle/>
          <a:p>
            <a:pPr algn="ctr" indent="0" marL="0">
              <a:buNone/>
            </a:pPr>
            <a:r>
              <a:rPr lang="en-US" sz="1000" dirty="0">
                <a:solidFill>
                  <a:srgbClr val="A1A1AA"/>
                </a:solidFill>
                <a:latin typeface="Calibri" pitchFamily="34" charset="0"/>
                <a:ea typeface="Calibri" pitchFamily="34" charset="-122"/>
                <a:cs typeface="Calibri" pitchFamily="34" charset="-120"/>
              </a:rPr>
              <a:t>kWh per transaksjon = 4 376 ÷ TPS ved 138 TWh/år (Cambridge CBECI). Begge kjedene får samme nettverksstrøm, så linjene skiller seg bare i gjennomstrømning. Nexas 42 000 TPS er målt; 100 000 med Blitz er et anslag.</a:t>
            </a:r>
            <a:endParaRPr lang="en-US" sz="1000" dirty="0"/>
          </a:p>
        </p:txBody>
      </p:sp>
      <p:pic>
        <p:nvPicPr>
          <p:cNvPr id="6" name="Image 1" descr="preencoded.png">    </p:cNvPr>
          <p:cNvPicPr>
            <a:picLocks noChangeAspect="1"/>
          </p:cNvPicPr>
          <p:nvPr/>
        </p:nvPicPr>
        <p:blipFill>
          <a:blip r:embed="rId2"/>
          <a:stretch>
            <a:fillRect/>
          </a:stretch>
        </p:blipFill>
        <p:spPr>
          <a:xfrm>
            <a:off x="548640" y="6355080"/>
            <a:ext cx="256032" cy="246888"/>
          </a:xfrm>
          <a:prstGeom prst="rect">
            <a:avLst/>
          </a:prstGeom>
        </p:spPr>
      </p:pic>
      <p:sp>
        <p:nvSpPr>
          <p:cNvPr id="7" name="Text 2"/>
          <p:cNvSpPr txBox="1"/>
          <p:nvPr/>
        </p:nvSpPr>
        <p:spPr>
          <a:xfrm>
            <a:off x="877824" y="6400800"/>
            <a:ext cx="2743200" cy="274320"/>
          </a:xfrm>
          <a:prstGeom prst="rect">
            <a:avLst/>
          </a:prstGeom>
          <a:noFill/>
          <a:ln/>
        </p:spPr>
        <p:txBody>
          <a:bodyPr wrap="square" lIns="0" tIns="0" rIns="0" bIns="0" rtlCol="0" anchor="ctr"/>
          <a:lstStyle/>
          <a:p>
            <a:pPr algn="l" indent="0" marL="0">
              <a:buNone/>
            </a:pPr>
            <a:r>
              <a:rPr lang="en-US" sz="1000" dirty="0">
                <a:solidFill>
                  <a:srgbClr val="A1A1AA"/>
                </a:solidFill>
                <a:latin typeface="Calibri" pitchFamily="34" charset="0"/>
                <a:ea typeface="Calibri" pitchFamily="34" charset="-122"/>
                <a:cs typeface="Calibri" pitchFamily="34" charset="-120"/>
              </a:rPr>
              <a:t>Nexa · 2026</a:t>
            </a:r>
            <a:endParaRPr lang="en-US" sz="1000" dirty="0"/>
          </a:p>
        </p:txBody>
      </p:sp>
      <p:sp>
        <p:nvSpPr>
          <p:cNvPr id="8" name="Text 3"/>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A1A1AA"/>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1005840"/>
          </a:xfrm>
          <a:prstGeom prst="rect">
            <a:avLst/>
          </a:prstGeom>
          <a:noFill/>
          <a:ln/>
        </p:spPr>
        <p:txBody>
          <a:bodyPr wrap="square" lIns="0" tIns="0" rIns="0" bIns="0" rtlCol="0" anchor="t"/>
          <a:lstStyle/>
          <a:p>
            <a:pPr algn="l" indent="0" marL="0">
              <a:buNone/>
            </a:pPr>
            <a:r>
              <a:rPr lang="en-US" sz="3000" b="1" dirty="0">
                <a:solidFill>
                  <a:srgbClr val="FFFFFF"/>
                </a:solidFill>
                <a:latin typeface="Calibri" pitchFamily="34" charset="0"/>
                <a:ea typeface="Calibri" pitchFamily="34" charset="-122"/>
                <a:cs typeface="Calibri" pitchFamily="34" charset="-120"/>
              </a:rPr>
              <a:t>Nexa kan bruke like mye strøm som Bitcoin hvis mange nok miner. I stor skala er den langt mer energieffektiv</a:t>
            </a:r>
            <a:endParaRPr lang="en-US" sz="3000" dirty="0"/>
          </a:p>
        </p:txBody>
      </p:sp>
      <p:sp>
        <p:nvSpPr>
          <p:cNvPr id="3" name="Shape 1"/>
          <p:cNvSpPr/>
          <p:nvPr/>
        </p:nvSpPr>
        <p:spPr>
          <a:xfrm>
            <a:off x="548640" y="1691640"/>
            <a:ext cx="3515258" cy="3657600"/>
          </a:xfrm>
          <a:prstGeom prst="roundRect">
            <a:avLst>
              <a:gd name="adj" fmla="val 3121"/>
            </a:avLst>
          </a:prstGeom>
          <a:solidFill>
            <a:srgbClr val="2A1A0C"/>
          </a:solidFill>
          <a:ln w="9525">
            <a:solidFill>
              <a:srgbClr val="2E2E35"/>
            </a:solidFill>
            <a:prstDash val="solid"/>
          </a:ln>
        </p:spPr>
      </p:sp>
      <p:sp>
        <p:nvSpPr>
          <p:cNvPr id="4" name="Shape 2"/>
          <p:cNvSpPr/>
          <p:nvPr/>
        </p:nvSpPr>
        <p:spPr>
          <a:xfrm>
            <a:off x="822960" y="1965960"/>
            <a:ext cx="1737360" cy="457200"/>
          </a:xfrm>
          <a:prstGeom prst="roundRect">
            <a:avLst>
              <a:gd name="adj" fmla="val 50000"/>
            </a:avLst>
          </a:prstGeom>
          <a:solidFill>
            <a:srgbClr val="F7931A"/>
          </a:solidFill>
          <a:ln w="12700">
            <a:solidFill>
              <a:srgbClr val="F7931A"/>
            </a:solidFill>
            <a:prstDash val="solid"/>
          </a:ln>
        </p:spPr>
      </p:sp>
      <p:sp>
        <p:nvSpPr>
          <p:cNvPr id="5" name="Text 3"/>
          <p:cNvSpPr txBox="1"/>
          <p:nvPr/>
        </p:nvSpPr>
        <p:spPr>
          <a:xfrm>
            <a:off x="822960" y="1965960"/>
            <a:ext cx="1737360" cy="457200"/>
          </a:xfrm>
          <a:prstGeom prst="rect">
            <a:avLst/>
          </a:prstGeom>
          <a:noFill/>
          <a:ln/>
        </p:spPr>
        <p:txBody>
          <a:bodyPr wrap="square" lIns="0" tIns="0" rIns="0" bIns="0" rtlCol="0" anchor="ctr"/>
          <a:lstStyle/>
          <a:p>
            <a:pPr algn="ctr" indent="0" marL="0">
              <a:buNone/>
            </a:pPr>
            <a:r>
              <a:rPr lang="en-US" sz="1400" b="1" dirty="0">
                <a:solidFill>
                  <a:srgbClr val="0A0A0F"/>
                </a:solidFill>
                <a:latin typeface="Calibri" pitchFamily="34" charset="0"/>
                <a:ea typeface="Calibri" pitchFamily="34" charset="-122"/>
                <a:cs typeface="Calibri" pitchFamily="34" charset="-120"/>
              </a:rPr>
              <a:t>Bitcoin</a:t>
            </a:r>
            <a:endParaRPr lang="en-US" sz="1400" dirty="0"/>
          </a:p>
        </p:txBody>
      </p:sp>
      <p:sp>
        <p:nvSpPr>
          <p:cNvPr id="6" name="Text 4"/>
          <p:cNvSpPr txBox="1"/>
          <p:nvPr/>
        </p:nvSpPr>
        <p:spPr>
          <a:xfrm>
            <a:off x="822960" y="2651760"/>
            <a:ext cx="2966618" cy="6858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 16 GW for rundt 7 TPS</a:t>
            </a:r>
            <a:endParaRPr lang="en-US" sz="1800" dirty="0"/>
          </a:p>
        </p:txBody>
      </p:sp>
      <p:sp>
        <p:nvSpPr>
          <p:cNvPr id="7" name="Text 5"/>
          <p:cNvSpPr txBox="1"/>
          <p:nvPr/>
        </p:nvSpPr>
        <p:spPr>
          <a:xfrm>
            <a:off x="822960" y="3383280"/>
            <a:ext cx="2966618" cy="1691640"/>
          </a:xfrm>
          <a:prstGeom prst="rect">
            <a:avLst/>
          </a:prstGeom>
          <a:noFill/>
          <a:ln/>
        </p:spPr>
        <p:txBody>
          <a:bodyPr wrap="square" lIns="0" tIns="0" rIns="0" bIns="0" rtlCol="0" anchor="t"/>
          <a:lstStyle/>
          <a:p>
            <a:pPr indent="0" marL="0">
              <a:spcAft>
                <a:spcPts val="600"/>
              </a:spcAft>
              <a:buNone/>
            </a:pPr>
            <a:r>
              <a:rPr lang="en-US" sz="1500" dirty="0">
                <a:solidFill>
                  <a:srgbClr val="E4E4E7"/>
                </a:solidFill>
                <a:latin typeface="Calibri" pitchFamily="34" charset="0"/>
                <a:ea typeface="Calibri" pitchFamily="34" charset="-122"/>
                <a:cs typeface="Calibri" pitchFamily="34" charset="-120"/>
              </a:rPr>
              <a:t>Minerne på enhver proof-of-work-kjede brenner omtrent det blokkbelønningen er verdt, uavhengig av bruk. Cambridges anslag for 2026 er 16 GW, omtrent Norges gjennomsnittlige nettlast, for å bære 7 transaksjoner i sekundet.</a:t>
            </a:r>
            <a:endParaRPr lang="en-US" sz="1500" dirty="0"/>
          </a:p>
        </p:txBody>
      </p:sp>
      <p:sp>
        <p:nvSpPr>
          <p:cNvPr id="8" name="Shape 6"/>
          <p:cNvSpPr/>
          <p:nvPr/>
        </p:nvSpPr>
        <p:spPr>
          <a:xfrm>
            <a:off x="4338218" y="1691640"/>
            <a:ext cx="3515258" cy="3657600"/>
          </a:xfrm>
          <a:prstGeom prst="roundRect">
            <a:avLst>
              <a:gd name="adj" fmla="val 3121"/>
            </a:avLst>
          </a:prstGeom>
          <a:solidFill>
            <a:srgbClr val="1A1F3A"/>
          </a:solidFill>
          <a:ln w="9525">
            <a:solidFill>
              <a:srgbClr val="2E2E35"/>
            </a:solidFill>
            <a:prstDash val="solid"/>
          </a:ln>
        </p:spPr>
      </p:sp>
      <p:sp>
        <p:nvSpPr>
          <p:cNvPr id="9" name="Shape 7"/>
          <p:cNvSpPr/>
          <p:nvPr/>
        </p:nvSpPr>
        <p:spPr>
          <a:xfrm>
            <a:off x="4612538" y="1965960"/>
            <a:ext cx="1737360" cy="457200"/>
          </a:xfrm>
          <a:prstGeom prst="roundRect">
            <a:avLst>
              <a:gd name="adj" fmla="val 50000"/>
            </a:avLst>
          </a:prstGeom>
          <a:solidFill>
            <a:srgbClr val="627EEA"/>
          </a:solidFill>
          <a:ln w="12700">
            <a:solidFill>
              <a:srgbClr val="627EEA"/>
            </a:solidFill>
            <a:prstDash val="solid"/>
          </a:ln>
        </p:spPr>
      </p:sp>
      <p:sp>
        <p:nvSpPr>
          <p:cNvPr id="10" name="Text 8"/>
          <p:cNvSpPr txBox="1"/>
          <p:nvPr/>
        </p:nvSpPr>
        <p:spPr>
          <a:xfrm>
            <a:off x="4612538" y="1965960"/>
            <a:ext cx="173736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Ethereum</a:t>
            </a:r>
            <a:endParaRPr lang="en-US" sz="1400" dirty="0"/>
          </a:p>
        </p:txBody>
      </p:sp>
      <p:sp>
        <p:nvSpPr>
          <p:cNvPr id="11" name="Text 9"/>
          <p:cNvSpPr txBox="1"/>
          <p:nvPr/>
        </p:nvSpPr>
        <p:spPr>
          <a:xfrm>
            <a:off x="4612538" y="2651760"/>
            <a:ext cx="2966618" cy="6858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 0,3 MW med proof of stake</a:t>
            </a:r>
            <a:endParaRPr lang="en-US" sz="1800" dirty="0"/>
          </a:p>
        </p:txBody>
      </p:sp>
      <p:sp>
        <p:nvSpPr>
          <p:cNvPr id="12" name="Text 10"/>
          <p:cNvSpPr txBox="1"/>
          <p:nvPr/>
        </p:nvSpPr>
        <p:spPr>
          <a:xfrm>
            <a:off x="4612538" y="3383280"/>
            <a:ext cx="2966618" cy="1691640"/>
          </a:xfrm>
          <a:prstGeom prst="rect">
            <a:avLst/>
          </a:prstGeom>
          <a:noFill/>
          <a:ln/>
        </p:spPr>
        <p:txBody>
          <a:bodyPr wrap="square" lIns="0" tIns="0" rIns="0" bIns="0" rtlCol="0" anchor="t"/>
          <a:lstStyle/>
          <a:p>
            <a:pPr indent="0" marL="0">
              <a:spcAft>
                <a:spcPts val="600"/>
              </a:spcAft>
              <a:buNone/>
            </a:pPr>
            <a:r>
              <a:rPr lang="en-US" sz="1500" dirty="0">
                <a:solidFill>
                  <a:srgbClr val="E4E4E7"/>
                </a:solidFill>
                <a:latin typeface="Calibri" pitchFamily="34" charset="0"/>
                <a:ea typeface="Calibri" pitchFamily="34" charset="-122"/>
                <a:cs typeface="Calibri" pitchFamily="34" charset="-120"/>
              </a:rPr>
              <a:t>Rundt 0,0026 TWh i året siden The Merge. Energi er reelt løst på Ethereum. Avveiningene der handler om fordeling og kompleksitet, som dekkes senere i presentasjonen.</a:t>
            </a:r>
            <a:endParaRPr lang="en-US" sz="1500" dirty="0"/>
          </a:p>
        </p:txBody>
      </p:sp>
      <p:sp>
        <p:nvSpPr>
          <p:cNvPr id="13" name="Shape 11"/>
          <p:cNvSpPr/>
          <p:nvPr/>
        </p:nvSpPr>
        <p:spPr>
          <a:xfrm>
            <a:off x="8127797" y="1691640"/>
            <a:ext cx="3515258" cy="3657600"/>
          </a:xfrm>
          <a:prstGeom prst="roundRect">
            <a:avLst>
              <a:gd name="adj" fmla="val 3121"/>
            </a:avLst>
          </a:prstGeom>
          <a:solidFill>
            <a:srgbClr val="26210F"/>
          </a:solidFill>
          <a:ln w="9525">
            <a:solidFill>
              <a:srgbClr val="2E2E35"/>
            </a:solidFill>
            <a:prstDash val="solid"/>
          </a:ln>
        </p:spPr>
      </p:sp>
      <p:sp>
        <p:nvSpPr>
          <p:cNvPr id="14" name="Shape 12"/>
          <p:cNvSpPr/>
          <p:nvPr/>
        </p:nvSpPr>
        <p:spPr>
          <a:xfrm>
            <a:off x="8402117" y="1965960"/>
            <a:ext cx="1737360" cy="457200"/>
          </a:xfrm>
          <a:prstGeom prst="roundRect">
            <a:avLst>
              <a:gd name="adj" fmla="val 50000"/>
            </a:avLst>
          </a:prstGeom>
          <a:solidFill>
            <a:srgbClr val="F2CD3A"/>
          </a:solidFill>
          <a:ln w="12700">
            <a:solidFill>
              <a:srgbClr val="F2CD3A"/>
            </a:solidFill>
            <a:prstDash val="solid"/>
          </a:ln>
        </p:spPr>
      </p:sp>
      <p:sp>
        <p:nvSpPr>
          <p:cNvPr id="15" name="Text 13"/>
          <p:cNvSpPr txBox="1"/>
          <p:nvPr/>
        </p:nvSpPr>
        <p:spPr>
          <a:xfrm>
            <a:off x="8402117" y="1965960"/>
            <a:ext cx="1737360" cy="457200"/>
          </a:xfrm>
          <a:prstGeom prst="rect">
            <a:avLst/>
          </a:prstGeom>
          <a:noFill/>
          <a:ln/>
        </p:spPr>
        <p:txBody>
          <a:bodyPr wrap="square" lIns="0" tIns="0" rIns="0" bIns="0" rtlCol="0" anchor="ctr"/>
          <a:lstStyle/>
          <a:p>
            <a:pPr algn="ctr" indent="0" marL="0">
              <a:buNone/>
            </a:pPr>
            <a:r>
              <a:rPr lang="en-US" sz="1400" b="1" dirty="0">
                <a:solidFill>
                  <a:srgbClr val="0A0A0F"/>
                </a:solidFill>
                <a:latin typeface="Calibri" pitchFamily="34" charset="0"/>
                <a:ea typeface="Calibri" pitchFamily="34" charset="-122"/>
                <a:cs typeface="Calibri" pitchFamily="34" charset="-120"/>
              </a:rPr>
              <a:t>Nexa</a:t>
            </a:r>
            <a:endParaRPr lang="en-US" sz="1400" dirty="0"/>
          </a:p>
        </p:txBody>
      </p:sp>
      <p:sp>
        <p:nvSpPr>
          <p:cNvPr id="16" name="Text 14"/>
          <p:cNvSpPr txBox="1"/>
          <p:nvPr/>
        </p:nvSpPr>
        <p:spPr>
          <a:xfrm>
            <a:off x="8402117" y="2651760"/>
            <a:ext cx="2966618" cy="6858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Megawatt i dag, gigawatt hvis den vinner</a:t>
            </a:r>
            <a:endParaRPr lang="en-US" sz="1800" dirty="0"/>
          </a:p>
        </p:txBody>
      </p:sp>
      <p:sp>
        <p:nvSpPr>
          <p:cNvPr id="17" name="Text 15"/>
          <p:cNvSpPr txBox="1"/>
          <p:nvPr/>
        </p:nvSpPr>
        <p:spPr>
          <a:xfrm>
            <a:off x="8402117" y="3383280"/>
            <a:ext cx="2966618" cy="1691640"/>
          </a:xfrm>
          <a:prstGeom prst="rect">
            <a:avLst/>
          </a:prstGeom>
          <a:noFill/>
          <a:ln/>
        </p:spPr>
        <p:txBody>
          <a:bodyPr wrap="square" lIns="0" tIns="0" rIns="0" bIns="0" rtlCol="0" anchor="t"/>
          <a:lstStyle/>
          <a:p>
            <a:pPr indent="0" marL="0">
              <a:spcAft>
                <a:spcPts val="600"/>
              </a:spcAft>
              <a:buNone/>
            </a:pPr>
            <a:r>
              <a:rPr lang="en-US" sz="1500" dirty="0">
                <a:solidFill>
                  <a:srgbClr val="E4E4E7"/>
                </a:solidFill>
                <a:latin typeface="Calibri" pitchFamily="34" charset="0"/>
                <a:ea typeface="Calibri" pitchFamily="34" charset="-122"/>
                <a:cs typeface="Calibri" pitchFamily="34" charset="-120"/>
              </a:rPr>
              <a:t>Nexa er også proof of work. I dag rundt 5 til 15 MW med GPU-er; verdsatt som Bitcoin ville minerne brukt like mye som Bitcoins. Forskjellen: den strømmen ville båret 42 000 til 100 000 transaksjoner i sekundet, ikke 7.</a:t>
            </a:r>
            <a:endParaRPr lang="en-US" sz="1500" dirty="0"/>
          </a:p>
        </p:txBody>
      </p:sp>
      <p:pic>
        <p:nvPicPr>
          <p:cNvPr id="19" name="Image 0" descr="preencoded.png">    </p:cNvPr>
          <p:cNvPicPr>
            <a:picLocks noChangeAspect="1"/>
          </p:cNvPicPr>
          <p:nvPr/>
        </p:nvPicPr>
        <p:blipFill>
          <a:blip r:embed="rId1"/>
          <a:stretch>
            <a:fillRect/>
          </a:stretch>
        </p:blipFill>
        <p:spPr>
          <a:xfrm>
            <a:off x="548640" y="6355080"/>
            <a:ext cx="256032" cy="246888"/>
          </a:xfrm>
          <a:prstGeom prst="rect">
            <a:avLst/>
          </a:prstGeom>
        </p:spPr>
      </p:pic>
      <p:sp>
        <p:nvSpPr>
          <p:cNvPr id="20" name="Text 16"/>
          <p:cNvSpPr txBox="1"/>
          <p:nvPr/>
        </p:nvSpPr>
        <p:spPr>
          <a:xfrm>
            <a:off x="877824" y="6400800"/>
            <a:ext cx="2743200" cy="274320"/>
          </a:xfrm>
          <a:prstGeom prst="rect">
            <a:avLst/>
          </a:prstGeom>
          <a:noFill/>
          <a:ln/>
        </p:spPr>
        <p:txBody>
          <a:bodyPr wrap="square" lIns="0" tIns="0" rIns="0" bIns="0" rtlCol="0" anchor="ctr"/>
          <a:lstStyle/>
          <a:p>
            <a:pPr algn="l" indent="0" marL="0">
              <a:buNone/>
            </a:pPr>
            <a:r>
              <a:rPr lang="en-US" sz="1000" dirty="0">
                <a:solidFill>
                  <a:srgbClr val="A1A1AA"/>
                </a:solidFill>
                <a:latin typeface="Calibri" pitchFamily="34" charset="0"/>
                <a:ea typeface="Calibri" pitchFamily="34" charset="-122"/>
                <a:cs typeface="Calibri" pitchFamily="34" charset="-120"/>
              </a:rPr>
              <a:t>Nexa · 2026</a:t>
            </a:r>
            <a:endParaRPr lang="en-US" sz="1000" dirty="0"/>
          </a:p>
        </p:txBody>
      </p:sp>
      <p:sp>
        <p:nvSpPr>
          <p:cNvPr id="21" name="Text 17"/>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A1A1AA"/>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1005840"/>
          </a:xfrm>
          <a:prstGeom prst="rect">
            <a:avLst/>
          </a:prstGeom>
          <a:noFill/>
          <a:ln/>
        </p:spPr>
        <p:txBody>
          <a:bodyPr wrap="square" lIns="0" tIns="0" rIns="0" bIns="0" rtlCol="0" anchor="t"/>
          <a:lstStyle/>
          <a:p>
            <a:pPr algn="l" indent="0" marL="0">
              <a:buNone/>
            </a:pPr>
            <a:r>
              <a:rPr lang="en-US" sz="3000" b="1" dirty="0">
                <a:solidFill>
                  <a:srgbClr val="FFFFFF"/>
                </a:solidFill>
                <a:latin typeface="Calibri" pitchFamily="34" charset="0"/>
                <a:ea typeface="Calibri" pitchFamily="34" charset="-122"/>
                <a:cs typeface="Calibri" pitchFamily="34" charset="-120"/>
              </a:rPr>
              <a:t>NTNU-forskning: den grønneste kilowattimen er den du aldri trenger</a:t>
            </a:r>
            <a:endParaRPr lang="en-US" sz="3000" dirty="0"/>
          </a:p>
        </p:txBody>
      </p:sp>
      <p:sp>
        <p:nvSpPr>
          <p:cNvPr id="3" name="Shape 1"/>
          <p:cNvSpPr/>
          <p:nvPr/>
        </p:nvSpPr>
        <p:spPr>
          <a:xfrm>
            <a:off x="548640" y="1691640"/>
            <a:ext cx="3515258" cy="3520440"/>
          </a:xfrm>
          <a:prstGeom prst="roundRect">
            <a:avLst>
              <a:gd name="adj" fmla="val 3121"/>
            </a:avLst>
          </a:prstGeom>
          <a:solidFill>
            <a:srgbClr val="18181B"/>
          </a:solidFill>
          <a:ln w="9525">
            <a:solidFill>
              <a:srgbClr val="2E2E35"/>
            </a:solidFill>
            <a:prstDash val="solid"/>
          </a:ln>
        </p:spPr>
      </p:sp>
      <p:sp>
        <p:nvSpPr>
          <p:cNvPr id="4" name="Shape 2"/>
          <p:cNvSpPr/>
          <p:nvPr/>
        </p:nvSpPr>
        <p:spPr>
          <a:xfrm>
            <a:off x="822960" y="1965960"/>
            <a:ext cx="640080" cy="640080"/>
          </a:xfrm>
          <a:prstGeom prst="ellipse">
            <a:avLst/>
          </a:prstGeom>
          <a:solidFill>
            <a:srgbClr val="F2CD3A"/>
          </a:solidFill>
          <a:ln w="12700">
            <a:solidFill>
              <a:srgbClr val="F2CD3A"/>
            </a:solidFill>
            <a:prstDash val="solid"/>
          </a:ln>
        </p:spPr>
      </p:sp>
      <p:pic>
        <p:nvPicPr>
          <p:cNvPr id="5" name="Image 0" descr="preencoded.png">    </p:cNvPr>
          <p:cNvPicPr>
            <a:picLocks noChangeAspect="1"/>
          </p:cNvPicPr>
          <p:nvPr/>
        </p:nvPicPr>
        <p:blipFill>
          <a:blip r:embed="rId1"/>
          <a:stretch>
            <a:fillRect/>
          </a:stretch>
        </p:blipFill>
        <p:spPr>
          <a:xfrm>
            <a:off x="976579" y="2119579"/>
            <a:ext cx="332842" cy="332842"/>
          </a:xfrm>
          <a:prstGeom prst="rect">
            <a:avLst/>
          </a:prstGeom>
        </p:spPr>
      </p:pic>
      <p:sp>
        <p:nvSpPr>
          <p:cNvPr id="6" name="Text 3"/>
          <p:cNvSpPr txBox="1"/>
          <p:nvPr/>
        </p:nvSpPr>
        <p:spPr>
          <a:xfrm>
            <a:off x="822960" y="2788920"/>
            <a:ext cx="2966618" cy="64008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Ren kraft koster fortsatt natur</a:t>
            </a:r>
            <a:endParaRPr lang="en-US" sz="1800" dirty="0"/>
          </a:p>
        </p:txBody>
      </p:sp>
      <p:sp>
        <p:nvSpPr>
          <p:cNvPr id="7" name="Text 4"/>
          <p:cNvSpPr txBox="1"/>
          <p:nvPr/>
        </p:nvSpPr>
        <p:spPr>
          <a:xfrm>
            <a:off x="822960" y="3474720"/>
            <a:ext cx="2966618" cy="1463040"/>
          </a:xfrm>
          <a:prstGeom prst="rect">
            <a:avLst/>
          </a:prstGeom>
          <a:noFill/>
          <a:ln/>
        </p:spPr>
        <p:txBody>
          <a:bodyPr wrap="square" lIns="0" tIns="0" rIns="0" bIns="0" rtlCol="0" anchor="t"/>
          <a:lstStyle/>
          <a:p>
            <a:pPr indent="0" marL="0">
              <a:spcAft>
                <a:spcPts val="600"/>
              </a:spcAft>
              <a:buNone/>
            </a:pPr>
            <a:r>
              <a:rPr lang="en-US" sz="1500" dirty="0">
                <a:solidFill>
                  <a:srgbClr val="E4E4E7"/>
                </a:solidFill>
                <a:latin typeface="Calibri" pitchFamily="34" charset="0"/>
                <a:ea typeface="Calibri" pitchFamily="34" charset="-122"/>
                <a:cs typeface="Calibri" pitchFamily="34" charset="-120"/>
              </a:rPr>
              <a:t>Borgelt m.fl., NTNU (2026): utbyggingen av vind, sol og nett som Norge trenger innen 2050 kan øke habitattapet med inntil 28 %. Det mest effektive vernet er «å redusere strømetterspørselen gjennom energieffektivisering».</a:t>
            </a:r>
            <a:endParaRPr lang="en-US" sz="1500" dirty="0"/>
          </a:p>
        </p:txBody>
      </p:sp>
      <p:sp>
        <p:nvSpPr>
          <p:cNvPr id="8" name="Shape 5"/>
          <p:cNvSpPr/>
          <p:nvPr/>
        </p:nvSpPr>
        <p:spPr>
          <a:xfrm>
            <a:off x="4338218" y="1691640"/>
            <a:ext cx="3515258" cy="3520440"/>
          </a:xfrm>
          <a:prstGeom prst="roundRect">
            <a:avLst>
              <a:gd name="adj" fmla="val 3121"/>
            </a:avLst>
          </a:prstGeom>
          <a:solidFill>
            <a:srgbClr val="18181B"/>
          </a:solidFill>
          <a:ln w="9525">
            <a:solidFill>
              <a:srgbClr val="2E2E35"/>
            </a:solidFill>
            <a:prstDash val="solid"/>
          </a:ln>
        </p:spPr>
      </p:sp>
      <p:sp>
        <p:nvSpPr>
          <p:cNvPr id="9" name="Shape 6"/>
          <p:cNvSpPr/>
          <p:nvPr/>
        </p:nvSpPr>
        <p:spPr>
          <a:xfrm>
            <a:off x="4612538" y="1965960"/>
            <a:ext cx="640080" cy="640080"/>
          </a:xfrm>
          <a:prstGeom prst="ellipse">
            <a:avLst/>
          </a:prstGeom>
          <a:solidFill>
            <a:srgbClr val="F2CD3A"/>
          </a:solidFill>
          <a:ln w="12700">
            <a:solidFill>
              <a:srgbClr val="F2CD3A"/>
            </a:solidFill>
            <a:prstDash val="solid"/>
          </a:ln>
        </p:spPr>
      </p:sp>
      <p:pic>
        <p:nvPicPr>
          <p:cNvPr id="10" name="Image 1" descr="preencoded.png">    </p:cNvPr>
          <p:cNvPicPr>
            <a:picLocks noChangeAspect="1"/>
          </p:cNvPicPr>
          <p:nvPr/>
        </p:nvPicPr>
        <p:blipFill>
          <a:blip r:embed="rId2"/>
          <a:stretch>
            <a:fillRect/>
          </a:stretch>
        </p:blipFill>
        <p:spPr>
          <a:xfrm>
            <a:off x="4766158" y="2119579"/>
            <a:ext cx="332842" cy="332842"/>
          </a:xfrm>
          <a:prstGeom prst="rect">
            <a:avLst/>
          </a:prstGeom>
        </p:spPr>
      </p:pic>
      <p:sp>
        <p:nvSpPr>
          <p:cNvPr id="11" name="Text 7"/>
          <p:cNvSpPr txBox="1"/>
          <p:nvPr/>
        </p:nvSpPr>
        <p:spPr>
          <a:xfrm>
            <a:off x="4612538" y="2788920"/>
            <a:ext cx="2966618" cy="64008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Ingen kilowattime er gratis</a:t>
            </a:r>
            <a:endParaRPr lang="en-US" sz="1800" dirty="0"/>
          </a:p>
        </p:txBody>
      </p:sp>
      <p:sp>
        <p:nvSpPr>
          <p:cNvPr id="12" name="Text 8"/>
          <p:cNvSpPr txBox="1"/>
          <p:nvPr/>
        </p:nvSpPr>
        <p:spPr>
          <a:xfrm>
            <a:off x="4612538" y="3474720"/>
            <a:ext cx="2966618" cy="1463040"/>
          </a:xfrm>
          <a:prstGeom prst="rect">
            <a:avLst/>
          </a:prstGeom>
          <a:noFill/>
          <a:ln/>
        </p:spPr>
        <p:txBody>
          <a:bodyPr wrap="square" lIns="0" tIns="0" rIns="0" bIns="0" rtlCol="0" anchor="t"/>
          <a:lstStyle/>
          <a:p>
            <a:pPr indent="0" marL="0">
              <a:spcAft>
                <a:spcPts val="600"/>
              </a:spcAft>
              <a:buNone/>
            </a:pPr>
            <a:r>
              <a:rPr lang="en-US" sz="1500" dirty="0">
                <a:solidFill>
                  <a:srgbClr val="E4E4E7"/>
                </a:solidFill>
                <a:latin typeface="Calibri" pitchFamily="34" charset="0"/>
                <a:ea typeface="Calibri" pitchFamily="34" charset="-122"/>
                <a:cs typeface="Calibri" pitchFamily="34" charset="-120"/>
              </a:rPr>
              <a:t>Hertwich, Gibon m.fl., NTNU (PNAS 2014): den første globale livsløpsanalysen av fornybar kraft. Vann, vind og sol slår fossilt med god margin, men har fortsatt areal-, material- og utslippsavtrykk.</a:t>
            </a:r>
            <a:endParaRPr lang="en-US" sz="1500" dirty="0"/>
          </a:p>
        </p:txBody>
      </p:sp>
      <p:sp>
        <p:nvSpPr>
          <p:cNvPr id="13" name="Shape 9"/>
          <p:cNvSpPr/>
          <p:nvPr/>
        </p:nvSpPr>
        <p:spPr>
          <a:xfrm>
            <a:off x="8127797" y="1691640"/>
            <a:ext cx="3515258" cy="3520440"/>
          </a:xfrm>
          <a:prstGeom prst="roundRect">
            <a:avLst>
              <a:gd name="adj" fmla="val 3121"/>
            </a:avLst>
          </a:prstGeom>
          <a:solidFill>
            <a:srgbClr val="18181B"/>
          </a:solidFill>
          <a:ln w="9525">
            <a:solidFill>
              <a:srgbClr val="2E2E35"/>
            </a:solidFill>
            <a:prstDash val="solid"/>
          </a:ln>
        </p:spPr>
      </p:sp>
      <p:sp>
        <p:nvSpPr>
          <p:cNvPr id="14" name="Shape 10"/>
          <p:cNvSpPr/>
          <p:nvPr/>
        </p:nvSpPr>
        <p:spPr>
          <a:xfrm>
            <a:off x="8402117" y="1965960"/>
            <a:ext cx="640080" cy="640080"/>
          </a:xfrm>
          <a:prstGeom prst="ellipse">
            <a:avLst/>
          </a:prstGeom>
          <a:solidFill>
            <a:srgbClr val="F2CD3A"/>
          </a:solidFill>
          <a:ln w="12700">
            <a:solidFill>
              <a:srgbClr val="F2CD3A"/>
            </a:solidFill>
            <a:prstDash val="solid"/>
          </a:ln>
        </p:spPr>
      </p:sp>
      <p:pic>
        <p:nvPicPr>
          <p:cNvPr id="15" name="Image 2" descr="preencoded.png">    </p:cNvPr>
          <p:cNvPicPr>
            <a:picLocks noChangeAspect="1"/>
          </p:cNvPicPr>
          <p:nvPr/>
        </p:nvPicPr>
        <p:blipFill>
          <a:blip r:embed="rId3"/>
          <a:stretch>
            <a:fillRect/>
          </a:stretch>
        </p:blipFill>
        <p:spPr>
          <a:xfrm>
            <a:off x="8555736" y="2119579"/>
            <a:ext cx="332842" cy="332842"/>
          </a:xfrm>
          <a:prstGeom prst="rect">
            <a:avLst/>
          </a:prstGeom>
        </p:spPr>
      </p:pic>
      <p:sp>
        <p:nvSpPr>
          <p:cNvPr id="16" name="Text 11"/>
          <p:cNvSpPr txBox="1"/>
          <p:nvPr/>
        </p:nvSpPr>
        <p:spPr>
          <a:xfrm>
            <a:off x="8402117" y="2788920"/>
            <a:ext cx="2966618" cy="64008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Effektivisering er «det første drivstoffet»</a:t>
            </a:r>
            <a:endParaRPr lang="en-US" sz="1800" dirty="0"/>
          </a:p>
        </p:txBody>
      </p:sp>
      <p:sp>
        <p:nvSpPr>
          <p:cNvPr id="17" name="Text 12"/>
          <p:cNvSpPr txBox="1"/>
          <p:nvPr/>
        </p:nvSpPr>
        <p:spPr>
          <a:xfrm>
            <a:off x="8402117" y="3474720"/>
            <a:ext cx="2966618" cy="1463040"/>
          </a:xfrm>
          <a:prstGeom prst="rect">
            <a:avLst/>
          </a:prstGeom>
          <a:noFill/>
          <a:ln/>
        </p:spPr>
        <p:txBody>
          <a:bodyPr wrap="square" lIns="0" tIns="0" rIns="0" bIns="0" rtlCol="0" anchor="t"/>
          <a:lstStyle/>
          <a:p>
            <a:pPr indent="0" marL="0">
              <a:spcAft>
                <a:spcPts val="600"/>
              </a:spcAft>
              <a:buNone/>
            </a:pPr>
            <a:r>
              <a:rPr lang="en-US" sz="1500" dirty="0">
                <a:solidFill>
                  <a:srgbClr val="E4E4E7"/>
                </a:solidFill>
                <a:latin typeface="Calibri" pitchFamily="34" charset="0"/>
                <a:ea typeface="Calibri" pitchFamily="34" charset="-122"/>
                <a:cs typeface="Calibri" pitchFamily="34" charset="-120"/>
              </a:rPr>
              <a:t>HighEFF, SINTEF/NTNUs senter for energieffektivisering: Norge forpliktet seg på COP28 til energieffektivisering som «first fuel», «et konfliktfritt tiltak som frigjør energi til andre formål». En betalingsrail som gjør 13 000× mer per kWh er nettopp det.</a:t>
            </a:r>
            <a:endParaRPr lang="en-US" sz="1500" dirty="0"/>
          </a:p>
        </p:txBody>
      </p:sp>
      <p:sp>
        <p:nvSpPr>
          <p:cNvPr id="18" name="Text 13"/>
          <p:cNvSpPr txBox="1"/>
          <p:nvPr/>
        </p:nvSpPr>
        <p:spPr>
          <a:xfrm>
            <a:off x="548640" y="5440680"/>
            <a:ext cx="11094415" cy="548640"/>
          </a:xfrm>
          <a:prstGeom prst="rect">
            <a:avLst/>
          </a:prstGeom>
          <a:noFill/>
          <a:ln/>
        </p:spPr>
        <p:txBody>
          <a:bodyPr wrap="square" lIns="0" tIns="0" rIns="0" bIns="0" rtlCol="0" anchor="ctr"/>
          <a:lstStyle/>
          <a:p>
            <a:pPr indent="0" marL="0">
              <a:buNone/>
            </a:pPr>
            <a:r>
              <a:rPr lang="en-US" sz="1100" dirty="0">
                <a:solidFill>
                  <a:srgbClr val="A1A1AA"/>
                </a:solidFill>
                <a:latin typeface="Calibri" pitchFamily="34" charset="0"/>
                <a:ea typeface="Calibri" pitchFamily="34" charset="-122"/>
                <a:cs typeface="Calibri" pitchFamily="34" charset="-120"/>
              </a:rPr>
              <a:t>Borgelt, Gilad, May &amp; Verones, «Renewable energy growth amplifies land pressure on Norwegian biodiversity», Cleaner Energy Systems 13 (2026) · Hertwich m.fl., «Integrated life-cycle assessment of electricity-supply scenarios», PNAS (2014) · HighEFF på NTNU Energy Transition Week (2024)</a:t>
            </a:r>
            <a:endParaRPr lang="en-US" sz="1100" dirty="0"/>
          </a:p>
        </p:txBody>
      </p:sp>
      <p:pic>
        <p:nvPicPr>
          <p:cNvPr id="20" name="Image 3" descr="preencoded.png">    </p:cNvPr>
          <p:cNvPicPr>
            <a:picLocks noChangeAspect="1"/>
          </p:cNvPicPr>
          <p:nvPr/>
        </p:nvPicPr>
        <p:blipFill>
          <a:blip r:embed="rId4"/>
          <a:stretch>
            <a:fillRect/>
          </a:stretch>
        </p:blipFill>
        <p:spPr>
          <a:xfrm>
            <a:off x="548640" y="6355080"/>
            <a:ext cx="256032" cy="246888"/>
          </a:xfrm>
          <a:prstGeom prst="rect">
            <a:avLst/>
          </a:prstGeom>
        </p:spPr>
      </p:pic>
      <p:sp>
        <p:nvSpPr>
          <p:cNvPr id="21" name="Text 14"/>
          <p:cNvSpPr txBox="1"/>
          <p:nvPr/>
        </p:nvSpPr>
        <p:spPr>
          <a:xfrm>
            <a:off x="877824" y="6400800"/>
            <a:ext cx="2743200" cy="274320"/>
          </a:xfrm>
          <a:prstGeom prst="rect">
            <a:avLst/>
          </a:prstGeom>
          <a:noFill/>
          <a:ln/>
        </p:spPr>
        <p:txBody>
          <a:bodyPr wrap="square" lIns="0" tIns="0" rIns="0" bIns="0" rtlCol="0" anchor="ctr"/>
          <a:lstStyle/>
          <a:p>
            <a:pPr algn="l" indent="0" marL="0">
              <a:buNone/>
            </a:pPr>
            <a:r>
              <a:rPr lang="en-US" sz="1000" dirty="0">
                <a:solidFill>
                  <a:srgbClr val="A1A1AA"/>
                </a:solidFill>
                <a:latin typeface="Calibri" pitchFamily="34" charset="0"/>
                <a:ea typeface="Calibri" pitchFamily="34" charset="-122"/>
                <a:cs typeface="Calibri" pitchFamily="34" charset="-120"/>
              </a:rPr>
              <a:t>Nexa · 2026</a:t>
            </a:r>
            <a:endParaRPr lang="en-US" sz="1000" dirty="0"/>
          </a:p>
        </p:txBody>
      </p:sp>
      <p:sp>
        <p:nvSpPr>
          <p:cNvPr id="22" name="Text 15"/>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A1A1AA"/>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1005840"/>
          </a:xfrm>
          <a:prstGeom prst="rect">
            <a:avLst/>
          </a:prstGeom>
          <a:noFill/>
          <a:ln/>
        </p:spPr>
        <p:txBody>
          <a:bodyPr wrap="square" lIns="0" tIns="0" rIns="0" bIns="0" rtlCol="0" anchor="t"/>
          <a:lstStyle/>
          <a:p>
            <a:pPr algn="l" indent="0" marL="0">
              <a:buNone/>
            </a:pPr>
            <a:r>
              <a:rPr lang="en-US" sz="3000" b="1" dirty="0">
                <a:solidFill>
                  <a:srgbClr val="FFFFFF"/>
                </a:solidFill>
                <a:latin typeface="Calibri" pitchFamily="34" charset="0"/>
                <a:ea typeface="Calibri" pitchFamily="34" charset="-122"/>
                <a:cs typeface="Calibri" pitchFamily="34" charset="-120"/>
              </a:rPr>
              <a:t>Ingen spesialbygd maskinvare, ingen fjell av e-avfall</a:t>
            </a:r>
            <a:endParaRPr lang="en-US" sz="3000" dirty="0"/>
          </a:p>
        </p:txBody>
      </p:sp>
      <p:sp>
        <p:nvSpPr>
          <p:cNvPr id="3" name="Shape 1"/>
          <p:cNvSpPr/>
          <p:nvPr/>
        </p:nvSpPr>
        <p:spPr>
          <a:xfrm>
            <a:off x="548640" y="1691640"/>
            <a:ext cx="3515258" cy="3657600"/>
          </a:xfrm>
          <a:prstGeom prst="roundRect">
            <a:avLst>
              <a:gd name="adj" fmla="val 3121"/>
            </a:avLst>
          </a:prstGeom>
          <a:solidFill>
            <a:srgbClr val="18181B"/>
          </a:solidFill>
          <a:ln w="9525">
            <a:solidFill>
              <a:srgbClr val="2E2E35"/>
            </a:solidFill>
            <a:prstDash val="solid"/>
          </a:ln>
        </p:spPr>
      </p:sp>
      <p:sp>
        <p:nvSpPr>
          <p:cNvPr id="4" name="Shape 2"/>
          <p:cNvSpPr/>
          <p:nvPr/>
        </p:nvSpPr>
        <p:spPr>
          <a:xfrm>
            <a:off x="822960" y="1965960"/>
            <a:ext cx="640080" cy="640080"/>
          </a:xfrm>
          <a:prstGeom prst="ellipse">
            <a:avLst/>
          </a:prstGeom>
          <a:solidFill>
            <a:srgbClr val="F7931A"/>
          </a:solidFill>
          <a:ln w="12700">
            <a:solidFill>
              <a:srgbClr val="F7931A"/>
            </a:solidFill>
            <a:prstDash val="solid"/>
          </a:ln>
        </p:spPr>
      </p:sp>
      <p:pic>
        <p:nvPicPr>
          <p:cNvPr id="5" name="Image 0" descr="preencoded.png">    </p:cNvPr>
          <p:cNvPicPr>
            <a:picLocks noChangeAspect="1"/>
          </p:cNvPicPr>
          <p:nvPr/>
        </p:nvPicPr>
        <p:blipFill>
          <a:blip r:embed="rId1"/>
          <a:stretch>
            <a:fillRect/>
          </a:stretch>
        </p:blipFill>
        <p:spPr>
          <a:xfrm>
            <a:off x="976579" y="2119579"/>
            <a:ext cx="332842" cy="332842"/>
          </a:xfrm>
          <a:prstGeom prst="rect">
            <a:avLst/>
          </a:prstGeom>
        </p:spPr>
      </p:pic>
      <p:sp>
        <p:nvSpPr>
          <p:cNvPr id="6" name="Text 3"/>
          <p:cNvSpPr txBox="1"/>
          <p:nvPr/>
        </p:nvSpPr>
        <p:spPr>
          <a:xfrm>
            <a:off x="822960" y="2788920"/>
            <a:ext cx="2966618" cy="64008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Bitcoin: ASIC-er bygget for å kastes</a:t>
            </a:r>
            <a:endParaRPr lang="en-US" sz="1800" dirty="0"/>
          </a:p>
        </p:txBody>
      </p:sp>
      <p:sp>
        <p:nvSpPr>
          <p:cNvPr id="7" name="Text 4"/>
          <p:cNvSpPr txBox="1"/>
          <p:nvPr/>
        </p:nvSpPr>
        <p:spPr>
          <a:xfrm>
            <a:off x="822960" y="3474720"/>
            <a:ext cx="2966618" cy="1600200"/>
          </a:xfrm>
          <a:prstGeom prst="rect">
            <a:avLst/>
          </a:prstGeom>
          <a:noFill/>
          <a:ln/>
        </p:spPr>
        <p:txBody>
          <a:bodyPr wrap="square" lIns="0" tIns="0" rIns="0" bIns="0" rtlCol="0" anchor="t"/>
          <a:lstStyle/>
          <a:p>
            <a:pPr indent="0" marL="0">
              <a:spcAft>
                <a:spcPts val="600"/>
              </a:spcAft>
              <a:buNone/>
            </a:pPr>
            <a:r>
              <a:rPr lang="en-US" sz="1500" dirty="0">
                <a:solidFill>
                  <a:srgbClr val="E4E4E7"/>
                </a:solidFill>
                <a:latin typeface="Calibri" pitchFamily="34" charset="0"/>
                <a:ea typeface="Calibri" pitchFamily="34" charset="-122"/>
                <a:cs typeface="Calibri" pitchFamily="34" charset="-120"/>
              </a:rPr>
              <a:t>En Bitcoin-ASIC regner SHA-256 og ingenting annet. Den er utdatert etter omtrent 1,3 år: 30 700 tonn e-avfall i året, 272 gram per transaksjon, omtrent vekten av en iPhone.</a:t>
            </a:r>
            <a:endParaRPr lang="en-US" sz="1500" dirty="0"/>
          </a:p>
        </p:txBody>
      </p:sp>
      <p:sp>
        <p:nvSpPr>
          <p:cNvPr id="8" name="Shape 5"/>
          <p:cNvSpPr/>
          <p:nvPr/>
        </p:nvSpPr>
        <p:spPr>
          <a:xfrm>
            <a:off x="4338218" y="1691640"/>
            <a:ext cx="3515258" cy="3657600"/>
          </a:xfrm>
          <a:prstGeom prst="roundRect">
            <a:avLst>
              <a:gd name="adj" fmla="val 3121"/>
            </a:avLst>
          </a:prstGeom>
          <a:solidFill>
            <a:srgbClr val="18181B"/>
          </a:solidFill>
          <a:ln w="9525">
            <a:solidFill>
              <a:srgbClr val="2E2E35"/>
            </a:solidFill>
            <a:prstDash val="solid"/>
          </a:ln>
        </p:spPr>
      </p:sp>
      <p:sp>
        <p:nvSpPr>
          <p:cNvPr id="9" name="Shape 6"/>
          <p:cNvSpPr/>
          <p:nvPr/>
        </p:nvSpPr>
        <p:spPr>
          <a:xfrm>
            <a:off x="4612538" y="1965960"/>
            <a:ext cx="640080" cy="640080"/>
          </a:xfrm>
          <a:prstGeom prst="ellipse">
            <a:avLst/>
          </a:prstGeom>
          <a:solidFill>
            <a:srgbClr val="F2CD3A"/>
          </a:solidFill>
          <a:ln w="12700">
            <a:solidFill>
              <a:srgbClr val="F2CD3A"/>
            </a:solidFill>
            <a:prstDash val="solid"/>
          </a:ln>
        </p:spPr>
      </p:sp>
      <p:pic>
        <p:nvPicPr>
          <p:cNvPr id="10" name="Image 1" descr="preencoded.png">    </p:cNvPr>
          <p:cNvPicPr>
            <a:picLocks noChangeAspect="1"/>
          </p:cNvPicPr>
          <p:nvPr/>
        </p:nvPicPr>
        <p:blipFill>
          <a:blip r:embed="rId2"/>
          <a:stretch>
            <a:fillRect/>
          </a:stretch>
        </p:blipFill>
        <p:spPr>
          <a:xfrm>
            <a:off x="4766158" y="2119579"/>
            <a:ext cx="332842" cy="332842"/>
          </a:xfrm>
          <a:prstGeom prst="rect">
            <a:avLst/>
          </a:prstGeom>
        </p:spPr>
      </p:pic>
      <p:sp>
        <p:nvSpPr>
          <p:cNvPr id="11" name="Text 7"/>
          <p:cNvSpPr txBox="1"/>
          <p:nvPr/>
        </p:nvSpPr>
        <p:spPr>
          <a:xfrm>
            <a:off x="4612538" y="2788920"/>
            <a:ext cx="2966618" cy="64008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Nexa: vanlige skjermkort</a:t>
            </a:r>
            <a:endParaRPr lang="en-US" sz="1800" dirty="0"/>
          </a:p>
        </p:txBody>
      </p:sp>
      <p:sp>
        <p:nvSpPr>
          <p:cNvPr id="12" name="Text 8"/>
          <p:cNvSpPr txBox="1"/>
          <p:nvPr/>
        </p:nvSpPr>
        <p:spPr>
          <a:xfrm>
            <a:off x="4612538" y="3474720"/>
            <a:ext cx="2966618" cy="1600200"/>
          </a:xfrm>
          <a:prstGeom prst="rect">
            <a:avLst/>
          </a:prstGeom>
          <a:noFill/>
          <a:ln/>
        </p:spPr>
        <p:txBody>
          <a:bodyPr wrap="square" lIns="0" tIns="0" rIns="0" bIns="0" rtlCol="0" anchor="t"/>
          <a:lstStyle/>
          <a:p>
            <a:pPr indent="0" marL="0">
              <a:spcAft>
                <a:spcPts val="600"/>
              </a:spcAft>
              <a:buNone/>
            </a:pPr>
            <a:r>
              <a:rPr lang="en-US" sz="1500" dirty="0">
                <a:solidFill>
                  <a:srgbClr val="E4E4E7"/>
                </a:solidFill>
                <a:latin typeface="Calibri" pitchFamily="34" charset="0"/>
                <a:ea typeface="Calibri" pitchFamily="34" charset="-122"/>
                <a:cs typeface="Calibri" pitchFamily="34" charset="-120"/>
              </a:rPr>
              <a:t>NexaPoW er GPU-vennlig på NVIDIA- og AMD-kort. Et kort som slutter å mine går tilbake til spilling, KI eller rendering. Ingenting i nettverket er bygget for å kastes.</a:t>
            </a:r>
            <a:endParaRPr lang="en-US" sz="1500" dirty="0"/>
          </a:p>
        </p:txBody>
      </p:sp>
      <p:sp>
        <p:nvSpPr>
          <p:cNvPr id="13" name="Shape 9"/>
          <p:cNvSpPr/>
          <p:nvPr/>
        </p:nvSpPr>
        <p:spPr>
          <a:xfrm>
            <a:off x="8127797" y="1691640"/>
            <a:ext cx="3515258" cy="3657600"/>
          </a:xfrm>
          <a:prstGeom prst="roundRect">
            <a:avLst>
              <a:gd name="adj" fmla="val 3121"/>
            </a:avLst>
          </a:prstGeom>
          <a:solidFill>
            <a:srgbClr val="18181B"/>
          </a:solidFill>
          <a:ln w="9525">
            <a:solidFill>
              <a:srgbClr val="2E2E35"/>
            </a:solidFill>
            <a:prstDash val="solid"/>
          </a:ln>
        </p:spPr>
      </p:sp>
      <p:sp>
        <p:nvSpPr>
          <p:cNvPr id="14" name="Shape 10"/>
          <p:cNvSpPr/>
          <p:nvPr/>
        </p:nvSpPr>
        <p:spPr>
          <a:xfrm>
            <a:off x="8402117" y="1965960"/>
            <a:ext cx="640080" cy="640080"/>
          </a:xfrm>
          <a:prstGeom prst="ellipse">
            <a:avLst/>
          </a:prstGeom>
          <a:solidFill>
            <a:srgbClr val="F2CD3A"/>
          </a:solidFill>
          <a:ln w="12700">
            <a:solidFill>
              <a:srgbClr val="F2CD3A"/>
            </a:solidFill>
            <a:prstDash val="solid"/>
          </a:ln>
        </p:spPr>
      </p:sp>
      <p:pic>
        <p:nvPicPr>
          <p:cNvPr id="15" name="Image 2" descr="preencoded.png">    </p:cNvPr>
          <p:cNvPicPr>
            <a:picLocks noChangeAspect="1"/>
          </p:cNvPicPr>
          <p:nvPr/>
        </p:nvPicPr>
        <p:blipFill>
          <a:blip r:embed="rId3"/>
          <a:stretch>
            <a:fillRect/>
          </a:stretch>
        </p:blipFill>
        <p:spPr>
          <a:xfrm>
            <a:off x="8555736" y="2119579"/>
            <a:ext cx="332842" cy="332842"/>
          </a:xfrm>
          <a:prstGeom prst="rect">
            <a:avLst/>
          </a:prstGeom>
        </p:spPr>
      </p:pic>
      <p:sp>
        <p:nvSpPr>
          <p:cNvPr id="16" name="Text 11"/>
          <p:cNvSpPr txBox="1"/>
          <p:nvPr/>
        </p:nvSpPr>
        <p:spPr>
          <a:xfrm>
            <a:off x="8402117" y="2788920"/>
            <a:ext cx="2966618" cy="64008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Neste: omprogrammerbare FPGA-er</a:t>
            </a:r>
            <a:endParaRPr lang="en-US" sz="1800" dirty="0"/>
          </a:p>
        </p:txBody>
      </p:sp>
      <p:sp>
        <p:nvSpPr>
          <p:cNvPr id="17" name="Text 12"/>
          <p:cNvSpPr txBox="1"/>
          <p:nvPr/>
        </p:nvSpPr>
        <p:spPr>
          <a:xfrm>
            <a:off x="8402117" y="3474720"/>
            <a:ext cx="2966618" cy="1600200"/>
          </a:xfrm>
          <a:prstGeom prst="rect">
            <a:avLst/>
          </a:prstGeom>
          <a:noFill/>
          <a:ln/>
        </p:spPr>
        <p:txBody>
          <a:bodyPr wrap="square" lIns="0" tIns="0" rIns="0" bIns="0" rtlCol="0" anchor="t"/>
          <a:lstStyle/>
          <a:p>
            <a:pPr indent="0" marL="0">
              <a:spcAft>
                <a:spcPts val="600"/>
              </a:spcAft>
              <a:buNone/>
            </a:pPr>
            <a:r>
              <a:rPr lang="en-US" sz="1500" dirty="0">
                <a:solidFill>
                  <a:srgbClr val="E4E4E7"/>
                </a:solidFill>
                <a:latin typeface="Calibri" pitchFamily="34" charset="0"/>
                <a:ea typeface="Calibri" pitchFamily="34" charset="-122"/>
                <a:cs typeface="Calibri" pitchFamily="34" charset="-120"/>
              </a:rPr>
              <a:t>Blitz er et FPGA-kort som verifiserer signaturer for noden. FPGA-er omprogrammeres, de byttes ikke ut, og NexaPoWs mining-arbeid er den samme signaturmatematikken kjeden uansett trenger.</a:t>
            </a:r>
            <a:endParaRPr lang="en-US" sz="1500" dirty="0"/>
          </a:p>
        </p:txBody>
      </p:sp>
      <p:pic>
        <p:nvPicPr>
          <p:cNvPr id="19" name="Image 3" descr="preencoded.png">    </p:cNvPr>
          <p:cNvPicPr>
            <a:picLocks noChangeAspect="1"/>
          </p:cNvPicPr>
          <p:nvPr/>
        </p:nvPicPr>
        <p:blipFill>
          <a:blip r:embed="rId4"/>
          <a:stretch>
            <a:fillRect/>
          </a:stretch>
        </p:blipFill>
        <p:spPr>
          <a:xfrm>
            <a:off x="548640" y="6355080"/>
            <a:ext cx="256032" cy="246888"/>
          </a:xfrm>
          <a:prstGeom prst="rect">
            <a:avLst/>
          </a:prstGeom>
        </p:spPr>
      </p:pic>
      <p:sp>
        <p:nvSpPr>
          <p:cNvPr id="20" name="Text 13"/>
          <p:cNvSpPr txBox="1"/>
          <p:nvPr/>
        </p:nvSpPr>
        <p:spPr>
          <a:xfrm>
            <a:off x="877824" y="6400800"/>
            <a:ext cx="2743200" cy="274320"/>
          </a:xfrm>
          <a:prstGeom prst="rect">
            <a:avLst/>
          </a:prstGeom>
          <a:noFill/>
          <a:ln/>
        </p:spPr>
        <p:txBody>
          <a:bodyPr wrap="square" lIns="0" tIns="0" rIns="0" bIns="0" rtlCol="0" anchor="ctr"/>
          <a:lstStyle/>
          <a:p>
            <a:pPr algn="l" indent="0" marL="0">
              <a:buNone/>
            </a:pPr>
            <a:r>
              <a:rPr lang="en-US" sz="1000" dirty="0">
                <a:solidFill>
                  <a:srgbClr val="A1A1AA"/>
                </a:solidFill>
                <a:latin typeface="Calibri" pitchFamily="34" charset="0"/>
                <a:ea typeface="Calibri" pitchFamily="34" charset="-122"/>
                <a:cs typeface="Calibri" pitchFamily="34" charset="-120"/>
              </a:rPr>
              <a:t>Nexa · 2026</a:t>
            </a:r>
            <a:endParaRPr lang="en-US" sz="1000" dirty="0"/>
          </a:p>
        </p:txBody>
      </p:sp>
      <p:sp>
        <p:nvSpPr>
          <p:cNvPr id="21" name="Text 14"/>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A1A1AA"/>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1005840"/>
          </a:xfrm>
          <a:prstGeom prst="rect">
            <a:avLst/>
          </a:prstGeom>
          <a:noFill/>
          <a:ln/>
        </p:spPr>
        <p:txBody>
          <a:bodyPr wrap="square" lIns="0" tIns="0" rIns="0" bIns="0" rtlCol="0" anchor="t"/>
          <a:lstStyle/>
          <a:p>
            <a:pPr algn="l" indent="0" marL="0">
              <a:buNone/>
            </a:pPr>
            <a:r>
              <a:rPr lang="en-US" sz="3000" b="1" dirty="0">
                <a:solidFill>
                  <a:srgbClr val="FFFFFF"/>
                </a:solidFill>
                <a:latin typeface="Calibri" pitchFamily="34" charset="0"/>
                <a:ea typeface="Calibri" pitchFamily="34" charset="-122"/>
                <a:cs typeface="Calibri" pitchFamily="34" charset="-120"/>
              </a:rPr>
              <a:t>Rettferdig start: null premine, null ICO, null venturekapital</a:t>
            </a:r>
            <a:endParaRPr lang="en-US" sz="3000" dirty="0"/>
          </a:p>
        </p:txBody>
      </p:sp>
      <p:sp>
        <p:nvSpPr>
          <p:cNvPr id="3" name="Shape 1"/>
          <p:cNvSpPr/>
          <p:nvPr/>
        </p:nvSpPr>
        <p:spPr>
          <a:xfrm>
            <a:off x="548640" y="1691640"/>
            <a:ext cx="3515258" cy="3657600"/>
          </a:xfrm>
          <a:prstGeom prst="roundRect">
            <a:avLst>
              <a:gd name="adj" fmla="val 3121"/>
            </a:avLst>
          </a:prstGeom>
          <a:solidFill>
            <a:srgbClr val="2A1A0C"/>
          </a:solidFill>
          <a:ln w="9525">
            <a:solidFill>
              <a:srgbClr val="2E2E35"/>
            </a:solidFill>
            <a:prstDash val="solid"/>
          </a:ln>
        </p:spPr>
      </p:sp>
      <p:sp>
        <p:nvSpPr>
          <p:cNvPr id="4" name="Shape 2"/>
          <p:cNvSpPr/>
          <p:nvPr/>
        </p:nvSpPr>
        <p:spPr>
          <a:xfrm>
            <a:off x="822960" y="1965960"/>
            <a:ext cx="1737360" cy="457200"/>
          </a:xfrm>
          <a:prstGeom prst="roundRect">
            <a:avLst>
              <a:gd name="adj" fmla="val 50000"/>
            </a:avLst>
          </a:prstGeom>
          <a:solidFill>
            <a:srgbClr val="F7931A"/>
          </a:solidFill>
          <a:ln w="12700">
            <a:solidFill>
              <a:srgbClr val="F7931A"/>
            </a:solidFill>
            <a:prstDash val="solid"/>
          </a:ln>
        </p:spPr>
      </p:sp>
      <p:sp>
        <p:nvSpPr>
          <p:cNvPr id="5" name="Text 3"/>
          <p:cNvSpPr txBox="1"/>
          <p:nvPr/>
        </p:nvSpPr>
        <p:spPr>
          <a:xfrm>
            <a:off x="822960" y="1965960"/>
            <a:ext cx="1737360" cy="457200"/>
          </a:xfrm>
          <a:prstGeom prst="rect">
            <a:avLst/>
          </a:prstGeom>
          <a:noFill/>
          <a:ln/>
        </p:spPr>
        <p:txBody>
          <a:bodyPr wrap="square" lIns="0" tIns="0" rIns="0" bIns="0" rtlCol="0" anchor="ctr"/>
          <a:lstStyle/>
          <a:p>
            <a:pPr algn="ctr" indent="0" marL="0">
              <a:buNone/>
            </a:pPr>
            <a:r>
              <a:rPr lang="en-US" sz="1400" b="1" dirty="0">
                <a:solidFill>
                  <a:srgbClr val="0A0A0F"/>
                </a:solidFill>
                <a:latin typeface="Calibri" pitchFamily="34" charset="0"/>
                <a:ea typeface="Calibri" pitchFamily="34" charset="-122"/>
                <a:cs typeface="Calibri" pitchFamily="34" charset="-120"/>
              </a:rPr>
              <a:t>Bitcoin</a:t>
            </a:r>
            <a:endParaRPr lang="en-US" sz="1400" dirty="0"/>
          </a:p>
        </p:txBody>
      </p:sp>
      <p:sp>
        <p:nvSpPr>
          <p:cNvPr id="6" name="Text 4"/>
          <p:cNvSpPr txBox="1"/>
          <p:nvPr/>
        </p:nvSpPr>
        <p:spPr>
          <a:xfrm>
            <a:off x="822960" y="2651760"/>
            <a:ext cx="2966618" cy="6858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Rettferdig i 2009, stengt i dag</a:t>
            </a:r>
            <a:endParaRPr lang="en-US" sz="1800" dirty="0"/>
          </a:p>
        </p:txBody>
      </p:sp>
      <p:sp>
        <p:nvSpPr>
          <p:cNvPr id="7" name="Text 5"/>
          <p:cNvSpPr txBox="1"/>
          <p:nvPr/>
        </p:nvSpPr>
        <p:spPr>
          <a:xfrm>
            <a:off x="822960" y="3383280"/>
            <a:ext cx="2966618" cy="1691640"/>
          </a:xfrm>
          <a:prstGeom prst="rect">
            <a:avLst/>
          </a:prstGeom>
          <a:noFill/>
          <a:ln/>
        </p:spPr>
        <p:txBody>
          <a:bodyPr wrap="square" lIns="0" tIns="0" rIns="0" bIns="0" rtlCol="0" anchor="t"/>
          <a:lstStyle/>
          <a:p>
            <a:pPr indent="0" marL="0">
              <a:spcAft>
                <a:spcPts val="600"/>
              </a:spcAft>
              <a:buNone/>
            </a:pPr>
            <a:r>
              <a:rPr lang="en-US" sz="1500" dirty="0">
                <a:solidFill>
                  <a:srgbClr val="E4E4E7"/>
                </a:solidFill>
                <a:latin typeface="Calibri" pitchFamily="34" charset="0"/>
                <a:ea typeface="Calibri" pitchFamily="34" charset="-122"/>
                <a:cs typeface="Calibri" pitchFamily="34" charset="-120"/>
              </a:rPr>
              <a:t>Den første millionen mynter ble utvunnet på vanlige PC-er. En nykommer i 2026 konkurrerer med industrielle ASIC-farmer på subsidiert kraft. Døren er bare åpen i teorien.</a:t>
            </a:r>
            <a:endParaRPr lang="en-US" sz="1500" dirty="0"/>
          </a:p>
        </p:txBody>
      </p:sp>
      <p:sp>
        <p:nvSpPr>
          <p:cNvPr id="8" name="Shape 6"/>
          <p:cNvSpPr/>
          <p:nvPr/>
        </p:nvSpPr>
        <p:spPr>
          <a:xfrm>
            <a:off x="4338218" y="1691640"/>
            <a:ext cx="3515258" cy="3657600"/>
          </a:xfrm>
          <a:prstGeom prst="roundRect">
            <a:avLst>
              <a:gd name="adj" fmla="val 3121"/>
            </a:avLst>
          </a:prstGeom>
          <a:solidFill>
            <a:srgbClr val="1A1F3A"/>
          </a:solidFill>
          <a:ln w="9525">
            <a:solidFill>
              <a:srgbClr val="2E2E35"/>
            </a:solidFill>
            <a:prstDash val="solid"/>
          </a:ln>
        </p:spPr>
      </p:sp>
      <p:sp>
        <p:nvSpPr>
          <p:cNvPr id="9" name="Shape 7"/>
          <p:cNvSpPr/>
          <p:nvPr/>
        </p:nvSpPr>
        <p:spPr>
          <a:xfrm>
            <a:off x="4612538" y="1965960"/>
            <a:ext cx="1737360" cy="457200"/>
          </a:xfrm>
          <a:prstGeom prst="roundRect">
            <a:avLst>
              <a:gd name="adj" fmla="val 50000"/>
            </a:avLst>
          </a:prstGeom>
          <a:solidFill>
            <a:srgbClr val="627EEA"/>
          </a:solidFill>
          <a:ln w="12700">
            <a:solidFill>
              <a:srgbClr val="627EEA"/>
            </a:solidFill>
            <a:prstDash val="solid"/>
          </a:ln>
        </p:spPr>
      </p:sp>
      <p:sp>
        <p:nvSpPr>
          <p:cNvPr id="10" name="Text 8"/>
          <p:cNvSpPr txBox="1"/>
          <p:nvPr/>
        </p:nvSpPr>
        <p:spPr>
          <a:xfrm>
            <a:off x="4612538" y="1965960"/>
            <a:ext cx="173736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Ethereum</a:t>
            </a:r>
            <a:endParaRPr lang="en-US" sz="1400" dirty="0"/>
          </a:p>
        </p:txBody>
      </p:sp>
      <p:sp>
        <p:nvSpPr>
          <p:cNvPr id="11" name="Text 9"/>
          <p:cNvSpPr txBox="1"/>
          <p:nvPr/>
        </p:nvSpPr>
        <p:spPr>
          <a:xfrm>
            <a:off x="4612538" y="2651760"/>
            <a:ext cx="2966618" cy="6858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72 millioner ETH skapt ved genesis</a:t>
            </a:r>
            <a:endParaRPr lang="en-US" sz="1800" dirty="0"/>
          </a:p>
        </p:txBody>
      </p:sp>
      <p:sp>
        <p:nvSpPr>
          <p:cNvPr id="12" name="Text 10"/>
          <p:cNvSpPr txBox="1"/>
          <p:nvPr/>
        </p:nvSpPr>
        <p:spPr>
          <a:xfrm>
            <a:off x="4612538" y="3383280"/>
            <a:ext cx="2966618" cy="1691640"/>
          </a:xfrm>
          <a:prstGeom prst="rect">
            <a:avLst/>
          </a:prstGeom>
          <a:noFill/>
          <a:ln/>
        </p:spPr>
        <p:txBody>
          <a:bodyPr wrap="square" lIns="0" tIns="0" rIns="0" bIns="0" rtlCol="0" anchor="t"/>
          <a:lstStyle/>
          <a:p>
            <a:pPr indent="0" marL="0">
              <a:spcAft>
                <a:spcPts val="600"/>
              </a:spcAft>
              <a:buNone/>
            </a:pPr>
            <a:r>
              <a:rPr lang="en-US" sz="1500" dirty="0">
                <a:solidFill>
                  <a:srgbClr val="E4E4E7"/>
                </a:solidFill>
                <a:latin typeface="Calibri" pitchFamily="34" charset="0"/>
                <a:ea typeface="Calibri" pitchFamily="34" charset="-122"/>
                <a:cs typeface="Calibri" pitchFamily="34" charset="-120"/>
              </a:rPr>
              <a:t>Rundt 60 % av dagens tilbud fantes før nettverket gjorde det, det meste solgt i en ICO i 2014. Innsiderne fikk betalt før første blokk.</a:t>
            </a:r>
            <a:endParaRPr lang="en-US" sz="1500" dirty="0"/>
          </a:p>
        </p:txBody>
      </p:sp>
      <p:sp>
        <p:nvSpPr>
          <p:cNvPr id="13" name="Shape 11"/>
          <p:cNvSpPr/>
          <p:nvPr/>
        </p:nvSpPr>
        <p:spPr>
          <a:xfrm>
            <a:off x="8127797" y="1691640"/>
            <a:ext cx="3515258" cy="3657600"/>
          </a:xfrm>
          <a:prstGeom prst="roundRect">
            <a:avLst>
              <a:gd name="adj" fmla="val 3121"/>
            </a:avLst>
          </a:prstGeom>
          <a:solidFill>
            <a:srgbClr val="26210F"/>
          </a:solidFill>
          <a:ln w="9525">
            <a:solidFill>
              <a:srgbClr val="2E2E35"/>
            </a:solidFill>
            <a:prstDash val="solid"/>
          </a:ln>
        </p:spPr>
      </p:sp>
      <p:sp>
        <p:nvSpPr>
          <p:cNvPr id="14" name="Shape 12"/>
          <p:cNvSpPr/>
          <p:nvPr/>
        </p:nvSpPr>
        <p:spPr>
          <a:xfrm>
            <a:off x="8402117" y="1965960"/>
            <a:ext cx="1737360" cy="457200"/>
          </a:xfrm>
          <a:prstGeom prst="roundRect">
            <a:avLst>
              <a:gd name="adj" fmla="val 50000"/>
            </a:avLst>
          </a:prstGeom>
          <a:solidFill>
            <a:srgbClr val="F2CD3A"/>
          </a:solidFill>
          <a:ln w="12700">
            <a:solidFill>
              <a:srgbClr val="F2CD3A"/>
            </a:solidFill>
            <a:prstDash val="solid"/>
          </a:ln>
        </p:spPr>
      </p:sp>
      <p:sp>
        <p:nvSpPr>
          <p:cNvPr id="15" name="Text 13"/>
          <p:cNvSpPr txBox="1"/>
          <p:nvPr/>
        </p:nvSpPr>
        <p:spPr>
          <a:xfrm>
            <a:off x="8402117" y="1965960"/>
            <a:ext cx="1737360" cy="457200"/>
          </a:xfrm>
          <a:prstGeom prst="rect">
            <a:avLst/>
          </a:prstGeom>
          <a:noFill/>
          <a:ln/>
        </p:spPr>
        <p:txBody>
          <a:bodyPr wrap="square" lIns="0" tIns="0" rIns="0" bIns="0" rtlCol="0" anchor="ctr"/>
          <a:lstStyle/>
          <a:p>
            <a:pPr algn="ctr" indent="0" marL="0">
              <a:buNone/>
            </a:pPr>
            <a:r>
              <a:rPr lang="en-US" sz="1400" b="1" dirty="0">
                <a:solidFill>
                  <a:srgbClr val="0A0A0F"/>
                </a:solidFill>
                <a:latin typeface="Calibri" pitchFamily="34" charset="0"/>
                <a:ea typeface="Calibri" pitchFamily="34" charset="-122"/>
                <a:cs typeface="Calibri" pitchFamily="34" charset="-120"/>
              </a:rPr>
              <a:t>Nexa</a:t>
            </a:r>
            <a:endParaRPr lang="en-US" sz="1400" dirty="0"/>
          </a:p>
        </p:txBody>
      </p:sp>
      <p:sp>
        <p:nvSpPr>
          <p:cNvPr id="16" name="Text 14"/>
          <p:cNvSpPr txBox="1"/>
          <p:nvPr/>
        </p:nvSpPr>
        <p:spPr>
          <a:xfrm>
            <a:off x="8402117" y="2651760"/>
            <a:ext cx="2966618" cy="6858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0 premine, 0 teammynter, 0 VC-er</a:t>
            </a:r>
            <a:endParaRPr lang="en-US" sz="1800" dirty="0"/>
          </a:p>
        </p:txBody>
      </p:sp>
      <p:sp>
        <p:nvSpPr>
          <p:cNvPr id="17" name="Text 15"/>
          <p:cNvSpPr txBox="1"/>
          <p:nvPr/>
        </p:nvSpPr>
        <p:spPr>
          <a:xfrm>
            <a:off x="8402117" y="3383280"/>
            <a:ext cx="2966618" cy="1691640"/>
          </a:xfrm>
          <a:prstGeom prst="rect">
            <a:avLst/>
          </a:prstGeom>
          <a:noFill/>
          <a:ln/>
        </p:spPr>
        <p:txBody>
          <a:bodyPr wrap="square" lIns="0" tIns="0" rIns="0" bIns="0" rtlCol="0" anchor="t"/>
          <a:lstStyle/>
          <a:p>
            <a:pPr indent="0" marL="0">
              <a:spcAft>
                <a:spcPts val="600"/>
              </a:spcAft>
              <a:buNone/>
            </a:pPr>
            <a:r>
              <a:rPr lang="en-US" sz="1500" dirty="0">
                <a:solidFill>
                  <a:srgbClr val="E4E4E7"/>
                </a:solidFill>
                <a:latin typeface="Calibri" pitchFamily="34" charset="0"/>
                <a:ea typeface="Calibri" pitchFamily="34" charset="-122"/>
                <a:cs typeface="Calibri" pitchFamily="34" charset="-120"/>
              </a:rPr>
              <a:t>Lansert 21. juni 2022. Hele tilbudet på 21 billioner utvinnes offentlig på GPU-er, og nettverket er fire år gammelt, ikke sytten. Sene deltakere er fortsatt tidlig ute.</a:t>
            </a:r>
            <a:endParaRPr lang="en-US" sz="1500" dirty="0"/>
          </a:p>
        </p:txBody>
      </p:sp>
      <p:pic>
        <p:nvPicPr>
          <p:cNvPr id="19" name="Image 0" descr="preencoded.png">    </p:cNvPr>
          <p:cNvPicPr>
            <a:picLocks noChangeAspect="1"/>
          </p:cNvPicPr>
          <p:nvPr/>
        </p:nvPicPr>
        <p:blipFill>
          <a:blip r:embed="rId1"/>
          <a:stretch>
            <a:fillRect/>
          </a:stretch>
        </p:blipFill>
        <p:spPr>
          <a:xfrm>
            <a:off x="548640" y="6355080"/>
            <a:ext cx="256032" cy="246888"/>
          </a:xfrm>
          <a:prstGeom prst="rect">
            <a:avLst/>
          </a:prstGeom>
        </p:spPr>
      </p:pic>
      <p:sp>
        <p:nvSpPr>
          <p:cNvPr id="20" name="Text 16"/>
          <p:cNvSpPr txBox="1"/>
          <p:nvPr/>
        </p:nvSpPr>
        <p:spPr>
          <a:xfrm>
            <a:off x="877824" y="6400800"/>
            <a:ext cx="2743200" cy="274320"/>
          </a:xfrm>
          <a:prstGeom prst="rect">
            <a:avLst/>
          </a:prstGeom>
          <a:noFill/>
          <a:ln/>
        </p:spPr>
        <p:txBody>
          <a:bodyPr wrap="square" lIns="0" tIns="0" rIns="0" bIns="0" rtlCol="0" anchor="ctr"/>
          <a:lstStyle/>
          <a:p>
            <a:pPr algn="l" indent="0" marL="0">
              <a:buNone/>
            </a:pPr>
            <a:r>
              <a:rPr lang="en-US" sz="1000" dirty="0">
                <a:solidFill>
                  <a:srgbClr val="A1A1AA"/>
                </a:solidFill>
                <a:latin typeface="Calibri" pitchFamily="34" charset="0"/>
                <a:ea typeface="Calibri" pitchFamily="34" charset="-122"/>
                <a:cs typeface="Calibri" pitchFamily="34" charset="-120"/>
              </a:rPr>
              <a:t>Nexa · 2026</a:t>
            </a:r>
            <a:endParaRPr lang="en-US" sz="1000" dirty="0"/>
          </a:p>
        </p:txBody>
      </p:sp>
      <p:sp>
        <p:nvSpPr>
          <p:cNvPr id="21" name="Text 17"/>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A1A1AA"/>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1005840"/>
          </a:xfrm>
          <a:prstGeom prst="rect">
            <a:avLst/>
          </a:prstGeom>
          <a:noFill/>
          <a:ln/>
        </p:spPr>
        <p:txBody>
          <a:bodyPr wrap="square" lIns="0" tIns="0" rIns="0" bIns="0" rtlCol="0" anchor="t"/>
          <a:lstStyle/>
          <a:p>
            <a:pPr algn="l" indent="0" marL="0">
              <a:buNone/>
            </a:pPr>
            <a:r>
              <a:rPr lang="en-US" sz="3000" b="1" dirty="0">
                <a:solidFill>
                  <a:srgbClr val="FFFFFF"/>
                </a:solidFill>
                <a:latin typeface="Calibri" pitchFamily="34" charset="0"/>
                <a:ea typeface="Calibri" pitchFamily="34" charset="-122"/>
                <a:cs typeface="Calibri" pitchFamily="34" charset="-120"/>
              </a:rPr>
              <a:t>Skala: 42 000 transaksjoner i sekundet på dagens maskinvare</a:t>
            </a:r>
            <a:endParaRPr lang="en-US" sz="3000" dirty="0"/>
          </a:p>
        </p:txBody>
      </p:sp>
      <p:sp>
        <p:nvSpPr>
          <p:cNvPr id="3" name="Shape 1"/>
          <p:cNvSpPr/>
          <p:nvPr/>
        </p:nvSpPr>
        <p:spPr>
          <a:xfrm>
            <a:off x="548640" y="1737360"/>
            <a:ext cx="3515258" cy="1828800"/>
          </a:xfrm>
          <a:prstGeom prst="roundRect">
            <a:avLst>
              <a:gd name="adj" fmla="val 6000"/>
            </a:avLst>
          </a:prstGeom>
          <a:solidFill>
            <a:srgbClr val="2A1A0C"/>
          </a:solidFill>
          <a:ln w="9525">
            <a:solidFill>
              <a:srgbClr val="2E2E35"/>
            </a:solidFill>
            <a:prstDash val="solid"/>
          </a:ln>
        </p:spPr>
      </p:sp>
      <p:sp>
        <p:nvSpPr>
          <p:cNvPr id="4" name="Text 2"/>
          <p:cNvSpPr txBox="1"/>
          <p:nvPr/>
        </p:nvSpPr>
        <p:spPr>
          <a:xfrm>
            <a:off x="822960" y="1920240"/>
            <a:ext cx="2966618" cy="320040"/>
          </a:xfrm>
          <a:prstGeom prst="rect">
            <a:avLst/>
          </a:prstGeom>
          <a:noFill/>
          <a:ln/>
        </p:spPr>
        <p:txBody>
          <a:bodyPr wrap="square" lIns="0" tIns="0" rIns="0" bIns="0" rtlCol="0" anchor="ctr"/>
          <a:lstStyle/>
          <a:p>
            <a:pPr indent="0" marL="0">
              <a:buNone/>
            </a:pPr>
            <a:r>
              <a:rPr lang="en-US" sz="1200" b="1" spc="100" kern="0" dirty="0">
                <a:solidFill>
                  <a:srgbClr val="F7931A"/>
                </a:solidFill>
                <a:latin typeface="Calibri" pitchFamily="34" charset="0"/>
                <a:ea typeface="Calibri" pitchFamily="34" charset="-122"/>
                <a:cs typeface="Calibri" pitchFamily="34" charset="-120"/>
              </a:rPr>
              <a:t>BITCOIN</a:t>
            </a:r>
            <a:endParaRPr lang="en-US" sz="1200" dirty="0"/>
          </a:p>
        </p:txBody>
      </p:sp>
      <p:sp>
        <p:nvSpPr>
          <p:cNvPr id="5" name="Text 3"/>
          <p:cNvSpPr txBox="1"/>
          <p:nvPr/>
        </p:nvSpPr>
        <p:spPr>
          <a:xfrm>
            <a:off x="822960" y="2240280"/>
            <a:ext cx="2966618" cy="8229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 7 TPS</a:t>
            </a:r>
            <a:endParaRPr lang="en-US" sz="4000" dirty="0"/>
          </a:p>
        </p:txBody>
      </p:sp>
      <p:sp>
        <p:nvSpPr>
          <p:cNvPr id="6" name="Text 4"/>
          <p:cNvSpPr txBox="1"/>
          <p:nvPr/>
        </p:nvSpPr>
        <p:spPr>
          <a:xfrm>
            <a:off x="822960" y="3063240"/>
            <a:ext cx="2966618" cy="411480"/>
          </a:xfrm>
          <a:prstGeom prst="rect">
            <a:avLst/>
          </a:prstGeom>
          <a:noFill/>
          <a:ln/>
        </p:spPr>
        <p:txBody>
          <a:bodyPr wrap="square" lIns="0" tIns="0" rIns="0" bIns="0" rtlCol="0" anchor="t"/>
          <a:lstStyle/>
          <a:p>
            <a:pPr indent="0" marL="0">
              <a:buNone/>
            </a:pPr>
            <a:r>
              <a:rPr lang="en-US" sz="1200" dirty="0">
                <a:solidFill>
                  <a:srgbClr val="A1A1AA"/>
                </a:solidFill>
                <a:latin typeface="Calibri" pitchFamily="34" charset="0"/>
                <a:ea typeface="Calibri" pitchFamily="34" charset="-122"/>
                <a:cs typeface="Calibri" pitchFamily="34" charset="-120"/>
              </a:rPr>
              <a:t>uendret siden 2010 · hardt begrenset av blokkstørrelsen</a:t>
            </a:r>
            <a:endParaRPr lang="en-US" sz="1200" dirty="0"/>
          </a:p>
        </p:txBody>
      </p:sp>
      <p:sp>
        <p:nvSpPr>
          <p:cNvPr id="7" name="Shape 5"/>
          <p:cNvSpPr/>
          <p:nvPr/>
        </p:nvSpPr>
        <p:spPr>
          <a:xfrm>
            <a:off x="4338218" y="1737360"/>
            <a:ext cx="3515258" cy="1828800"/>
          </a:xfrm>
          <a:prstGeom prst="roundRect">
            <a:avLst>
              <a:gd name="adj" fmla="val 6000"/>
            </a:avLst>
          </a:prstGeom>
          <a:solidFill>
            <a:srgbClr val="1A1F3A"/>
          </a:solidFill>
          <a:ln w="9525">
            <a:solidFill>
              <a:srgbClr val="2E2E35"/>
            </a:solidFill>
            <a:prstDash val="solid"/>
          </a:ln>
        </p:spPr>
      </p:sp>
      <p:sp>
        <p:nvSpPr>
          <p:cNvPr id="8" name="Text 6"/>
          <p:cNvSpPr txBox="1"/>
          <p:nvPr/>
        </p:nvSpPr>
        <p:spPr>
          <a:xfrm>
            <a:off x="4612538" y="1920240"/>
            <a:ext cx="2966618" cy="320040"/>
          </a:xfrm>
          <a:prstGeom prst="rect">
            <a:avLst/>
          </a:prstGeom>
          <a:noFill/>
          <a:ln/>
        </p:spPr>
        <p:txBody>
          <a:bodyPr wrap="square" lIns="0" tIns="0" rIns="0" bIns="0" rtlCol="0" anchor="ctr"/>
          <a:lstStyle/>
          <a:p>
            <a:pPr indent="0" marL="0">
              <a:buNone/>
            </a:pPr>
            <a:r>
              <a:rPr lang="en-US" sz="1200" b="1" spc="100" kern="0" dirty="0">
                <a:solidFill>
                  <a:srgbClr val="627EEA"/>
                </a:solidFill>
                <a:latin typeface="Calibri" pitchFamily="34" charset="0"/>
                <a:ea typeface="Calibri" pitchFamily="34" charset="-122"/>
                <a:cs typeface="Calibri" pitchFamily="34" charset="-120"/>
              </a:rPr>
              <a:t>ETHEREUM L1</a:t>
            </a:r>
            <a:endParaRPr lang="en-US" sz="1200" dirty="0"/>
          </a:p>
        </p:txBody>
      </p:sp>
      <p:sp>
        <p:nvSpPr>
          <p:cNvPr id="9" name="Text 7"/>
          <p:cNvSpPr txBox="1"/>
          <p:nvPr/>
        </p:nvSpPr>
        <p:spPr>
          <a:xfrm>
            <a:off x="4612538" y="2240280"/>
            <a:ext cx="2966618" cy="8229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 26 TPS</a:t>
            </a:r>
            <a:endParaRPr lang="en-US" sz="4000" dirty="0"/>
          </a:p>
        </p:txBody>
      </p:sp>
      <p:sp>
        <p:nvSpPr>
          <p:cNvPr id="10" name="Text 8"/>
          <p:cNvSpPr txBox="1"/>
          <p:nvPr/>
        </p:nvSpPr>
        <p:spPr>
          <a:xfrm>
            <a:off x="4612538" y="3063240"/>
            <a:ext cx="2966618" cy="411480"/>
          </a:xfrm>
          <a:prstGeom prst="rect">
            <a:avLst/>
          </a:prstGeom>
          <a:noFill/>
          <a:ln/>
        </p:spPr>
        <p:txBody>
          <a:bodyPr wrap="square" lIns="0" tIns="0" rIns="0" bIns="0" rtlCol="0" anchor="t"/>
          <a:lstStyle/>
          <a:p>
            <a:pPr indent="0" marL="0">
              <a:buNone/>
            </a:pPr>
            <a:r>
              <a:rPr lang="en-US" sz="1200" dirty="0">
                <a:solidFill>
                  <a:srgbClr val="A1A1AA"/>
                </a:solidFill>
                <a:latin typeface="Calibri" pitchFamily="34" charset="0"/>
                <a:ea typeface="Calibri" pitchFamily="34" charset="-122"/>
                <a:cs typeface="Calibri" pitchFamily="34" charset="-120"/>
              </a:rPr>
              <a:t>daglig snitt 1. kvartal 2026 · brukerne skyves til lag 2</a:t>
            </a:r>
            <a:endParaRPr lang="en-US" sz="1200" dirty="0"/>
          </a:p>
        </p:txBody>
      </p:sp>
      <p:sp>
        <p:nvSpPr>
          <p:cNvPr id="11" name="Shape 9"/>
          <p:cNvSpPr/>
          <p:nvPr/>
        </p:nvSpPr>
        <p:spPr>
          <a:xfrm>
            <a:off x="8127797" y="1737360"/>
            <a:ext cx="3515258" cy="1828800"/>
          </a:xfrm>
          <a:prstGeom prst="roundRect">
            <a:avLst>
              <a:gd name="adj" fmla="val 6000"/>
            </a:avLst>
          </a:prstGeom>
          <a:solidFill>
            <a:srgbClr val="26210F"/>
          </a:solidFill>
          <a:ln w="9525">
            <a:solidFill>
              <a:srgbClr val="2E2E35"/>
            </a:solidFill>
            <a:prstDash val="solid"/>
          </a:ln>
        </p:spPr>
      </p:sp>
      <p:sp>
        <p:nvSpPr>
          <p:cNvPr id="12" name="Text 10"/>
          <p:cNvSpPr txBox="1"/>
          <p:nvPr/>
        </p:nvSpPr>
        <p:spPr>
          <a:xfrm>
            <a:off x="8402117" y="1920240"/>
            <a:ext cx="2966618" cy="320040"/>
          </a:xfrm>
          <a:prstGeom prst="rect">
            <a:avLst/>
          </a:prstGeom>
          <a:noFill/>
          <a:ln/>
        </p:spPr>
        <p:txBody>
          <a:bodyPr wrap="square" lIns="0" tIns="0" rIns="0" bIns="0" rtlCol="0" anchor="ctr"/>
          <a:lstStyle/>
          <a:p>
            <a:pPr indent="0" marL="0">
              <a:buNone/>
            </a:pPr>
            <a:r>
              <a:rPr lang="en-US" sz="1200" b="1" spc="100" kern="0" dirty="0">
                <a:solidFill>
                  <a:srgbClr val="F2CD3A"/>
                </a:solidFill>
                <a:latin typeface="Calibri" pitchFamily="34" charset="0"/>
                <a:ea typeface="Calibri" pitchFamily="34" charset="-122"/>
                <a:cs typeface="Calibri" pitchFamily="34" charset="-120"/>
              </a:rPr>
              <a:t>NEXA</a:t>
            </a:r>
            <a:endParaRPr lang="en-US" sz="1200" dirty="0"/>
          </a:p>
        </p:txBody>
      </p:sp>
      <p:sp>
        <p:nvSpPr>
          <p:cNvPr id="13" name="Text 11"/>
          <p:cNvSpPr txBox="1"/>
          <p:nvPr/>
        </p:nvSpPr>
        <p:spPr>
          <a:xfrm>
            <a:off x="8402117" y="2240280"/>
            <a:ext cx="2966618" cy="8229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42 000 TPS</a:t>
            </a:r>
            <a:endParaRPr lang="en-US" sz="4000" dirty="0"/>
          </a:p>
        </p:txBody>
      </p:sp>
      <p:sp>
        <p:nvSpPr>
          <p:cNvPr id="14" name="Text 12"/>
          <p:cNvSpPr txBox="1"/>
          <p:nvPr/>
        </p:nvSpPr>
        <p:spPr>
          <a:xfrm>
            <a:off x="8402117" y="3063240"/>
            <a:ext cx="2966618" cy="411480"/>
          </a:xfrm>
          <a:prstGeom prst="rect">
            <a:avLst/>
          </a:prstGeom>
          <a:noFill/>
          <a:ln/>
        </p:spPr>
        <p:txBody>
          <a:bodyPr wrap="square" lIns="0" tIns="0" rIns="0" bIns="0" rtlCol="0" anchor="t"/>
          <a:lstStyle/>
          <a:p>
            <a:pPr indent="0" marL="0">
              <a:buNone/>
            </a:pPr>
            <a:r>
              <a:rPr lang="en-US" sz="1200" dirty="0">
                <a:solidFill>
                  <a:srgbClr val="A1A1AA"/>
                </a:solidFill>
                <a:latin typeface="Calibri" pitchFamily="34" charset="0"/>
                <a:ea typeface="Calibri" pitchFamily="34" charset="-122"/>
                <a:cs typeface="Calibri" pitchFamily="34" charset="-120"/>
              </a:rPr>
              <a:t>målt · 100 000 anslått med Blitz</a:t>
            </a:r>
            <a:endParaRPr lang="en-US" sz="1200" dirty="0"/>
          </a:p>
        </p:txBody>
      </p:sp>
      <p:sp>
        <p:nvSpPr>
          <p:cNvPr id="15" name="Shape 13"/>
          <p:cNvSpPr/>
          <p:nvPr/>
        </p:nvSpPr>
        <p:spPr>
          <a:xfrm>
            <a:off x="548640" y="3931920"/>
            <a:ext cx="384048" cy="384048"/>
          </a:xfrm>
          <a:prstGeom prst="ellipse">
            <a:avLst/>
          </a:prstGeom>
          <a:solidFill>
            <a:srgbClr val="F2CD3A"/>
          </a:solidFill>
          <a:ln w="12700">
            <a:solidFill>
              <a:srgbClr val="F2CD3A"/>
            </a:solidFill>
            <a:prstDash val="solid"/>
          </a:ln>
        </p:spPr>
      </p:sp>
      <p:sp>
        <p:nvSpPr>
          <p:cNvPr id="16" name="Text 14"/>
          <p:cNvSpPr txBox="1"/>
          <p:nvPr/>
        </p:nvSpPr>
        <p:spPr>
          <a:xfrm>
            <a:off x="548640" y="3931920"/>
            <a:ext cx="384048" cy="384048"/>
          </a:xfrm>
          <a:prstGeom prst="rect">
            <a:avLst/>
          </a:prstGeom>
          <a:noFill/>
          <a:ln/>
        </p:spPr>
        <p:txBody>
          <a:bodyPr wrap="square" lIns="0" tIns="0" rIns="0" bIns="0" rtlCol="0" anchor="ctr"/>
          <a:lstStyle/>
          <a:p>
            <a:pPr algn="ctr" indent="0" marL="0">
              <a:buNone/>
            </a:pPr>
            <a:r>
              <a:rPr lang="en-US" sz="1400" b="1" dirty="0">
                <a:solidFill>
                  <a:srgbClr val="0A0A0F"/>
                </a:solidFill>
                <a:latin typeface="Calibri" pitchFamily="34" charset="0"/>
                <a:ea typeface="Calibri" pitchFamily="34" charset="-122"/>
                <a:cs typeface="Calibri" pitchFamily="34" charset="-120"/>
              </a:rPr>
              <a:t>1</a:t>
            </a:r>
            <a:endParaRPr lang="en-US" sz="1400" dirty="0"/>
          </a:p>
        </p:txBody>
      </p:sp>
      <p:sp>
        <p:nvSpPr>
          <p:cNvPr id="17" name="Text 15"/>
          <p:cNvSpPr txBox="1"/>
          <p:nvPr/>
        </p:nvSpPr>
        <p:spPr>
          <a:xfrm>
            <a:off x="1097280" y="3913632"/>
            <a:ext cx="2966618" cy="2103120"/>
          </a:xfrm>
          <a:prstGeom prst="rect">
            <a:avLst/>
          </a:prstGeom>
          <a:noFill/>
          <a:ln/>
        </p:spPr>
        <p:txBody>
          <a:bodyPr wrap="square" lIns="0" tIns="0" rIns="0" bIns="0" rtlCol="0" anchor="t"/>
          <a:lstStyle/>
          <a:p>
            <a:pPr indent="0" marL="0">
              <a:buNone/>
            </a:pPr>
            <a:r>
              <a:rPr lang="en-US" sz="1500" dirty="0">
                <a:solidFill>
                  <a:srgbClr val="E4E4E7"/>
                </a:solidFill>
                <a:latin typeface="Calibri" pitchFamily="34" charset="0"/>
                <a:ea typeface="Calibri" pitchFamily="34" charset="-122"/>
                <a:cs typeface="Calibri" pitchFamily="34" charset="-120"/>
              </a:rPr>
              <a:t>Bitcoin har båret rundt 7 TPS siden 2010. Ethereums grunnlag lå på 26 TPS i snitt tidlig i 2026 og lener seg på lag 2-nettverk, hvert med egen bro, egne gebyrer og egne tillitsforutsetninger.</a:t>
            </a:r>
            <a:endParaRPr lang="en-US" sz="1500" dirty="0"/>
          </a:p>
        </p:txBody>
      </p:sp>
      <p:sp>
        <p:nvSpPr>
          <p:cNvPr id="18" name="Shape 16"/>
          <p:cNvSpPr/>
          <p:nvPr/>
        </p:nvSpPr>
        <p:spPr>
          <a:xfrm>
            <a:off x="4338218" y="3931920"/>
            <a:ext cx="384048" cy="384048"/>
          </a:xfrm>
          <a:prstGeom prst="ellipse">
            <a:avLst/>
          </a:prstGeom>
          <a:solidFill>
            <a:srgbClr val="F2CD3A"/>
          </a:solidFill>
          <a:ln w="12700">
            <a:solidFill>
              <a:srgbClr val="F2CD3A"/>
            </a:solidFill>
            <a:prstDash val="solid"/>
          </a:ln>
        </p:spPr>
      </p:sp>
      <p:sp>
        <p:nvSpPr>
          <p:cNvPr id="19" name="Text 17"/>
          <p:cNvSpPr txBox="1"/>
          <p:nvPr/>
        </p:nvSpPr>
        <p:spPr>
          <a:xfrm>
            <a:off x="4338218" y="3931920"/>
            <a:ext cx="384048" cy="384048"/>
          </a:xfrm>
          <a:prstGeom prst="rect">
            <a:avLst/>
          </a:prstGeom>
          <a:noFill/>
          <a:ln/>
        </p:spPr>
        <p:txBody>
          <a:bodyPr wrap="square" lIns="0" tIns="0" rIns="0" bIns="0" rtlCol="0" anchor="ctr"/>
          <a:lstStyle/>
          <a:p>
            <a:pPr algn="ctr" indent="0" marL="0">
              <a:buNone/>
            </a:pPr>
            <a:r>
              <a:rPr lang="en-US" sz="1400" b="1" dirty="0">
                <a:solidFill>
                  <a:srgbClr val="0A0A0F"/>
                </a:solidFill>
                <a:latin typeface="Calibri" pitchFamily="34" charset="0"/>
                <a:ea typeface="Calibri" pitchFamily="34" charset="-122"/>
                <a:cs typeface="Calibri" pitchFamily="34" charset="-120"/>
              </a:rPr>
              <a:t>2</a:t>
            </a:r>
            <a:endParaRPr lang="en-US" sz="1400" dirty="0"/>
          </a:p>
        </p:txBody>
      </p:sp>
      <p:sp>
        <p:nvSpPr>
          <p:cNvPr id="20" name="Text 18"/>
          <p:cNvSpPr txBox="1"/>
          <p:nvPr/>
        </p:nvSpPr>
        <p:spPr>
          <a:xfrm>
            <a:off x="4886858" y="3913632"/>
            <a:ext cx="2966618" cy="2103120"/>
          </a:xfrm>
          <a:prstGeom prst="rect">
            <a:avLst/>
          </a:prstGeom>
          <a:noFill/>
          <a:ln/>
        </p:spPr>
        <p:txBody>
          <a:bodyPr wrap="square" lIns="0" tIns="0" rIns="0" bIns="0" rtlCol="0" anchor="t"/>
          <a:lstStyle/>
          <a:p>
            <a:pPr indent="0" marL="0">
              <a:buNone/>
            </a:pPr>
            <a:r>
              <a:rPr lang="en-US" sz="1500" dirty="0">
                <a:solidFill>
                  <a:srgbClr val="E4E4E7"/>
                </a:solidFill>
                <a:latin typeface="Calibri" pitchFamily="34" charset="0"/>
                <a:ea typeface="Calibri" pitchFamily="34" charset="-122"/>
                <a:cs typeface="Calibri" pitchFamily="34" charset="-120"/>
              </a:rPr>
              <a:t>Nexa er en UTXO-kjede: hver transaksjon valideres uavhengig og parallelt, så gjennomstrømningen vokser med maskinvaren, ikke med komitévedtak.</a:t>
            </a:r>
            <a:endParaRPr lang="en-US" sz="1500" dirty="0"/>
          </a:p>
        </p:txBody>
      </p:sp>
      <p:sp>
        <p:nvSpPr>
          <p:cNvPr id="21" name="Shape 19"/>
          <p:cNvSpPr/>
          <p:nvPr/>
        </p:nvSpPr>
        <p:spPr>
          <a:xfrm>
            <a:off x="8127797" y="3931920"/>
            <a:ext cx="384048" cy="384048"/>
          </a:xfrm>
          <a:prstGeom prst="ellipse">
            <a:avLst/>
          </a:prstGeom>
          <a:solidFill>
            <a:srgbClr val="F2CD3A"/>
          </a:solidFill>
          <a:ln w="12700">
            <a:solidFill>
              <a:srgbClr val="F2CD3A"/>
            </a:solidFill>
            <a:prstDash val="solid"/>
          </a:ln>
        </p:spPr>
      </p:sp>
      <p:sp>
        <p:nvSpPr>
          <p:cNvPr id="22" name="Text 20"/>
          <p:cNvSpPr txBox="1"/>
          <p:nvPr/>
        </p:nvSpPr>
        <p:spPr>
          <a:xfrm>
            <a:off x="8127797" y="3931920"/>
            <a:ext cx="384048" cy="384048"/>
          </a:xfrm>
          <a:prstGeom prst="rect">
            <a:avLst/>
          </a:prstGeom>
          <a:noFill/>
          <a:ln/>
        </p:spPr>
        <p:txBody>
          <a:bodyPr wrap="square" lIns="0" tIns="0" rIns="0" bIns="0" rtlCol="0" anchor="ctr"/>
          <a:lstStyle/>
          <a:p>
            <a:pPr algn="ctr" indent="0" marL="0">
              <a:buNone/>
            </a:pPr>
            <a:r>
              <a:rPr lang="en-US" sz="1400" b="1" dirty="0">
                <a:solidFill>
                  <a:srgbClr val="0A0A0F"/>
                </a:solidFill>
                <a:latin typeface="Calibri" pitchFamily="34" charset="0"/>
                <a:ea typeface="Calibri" pitchFamily="34" charset="-122"/>
                <a:cs typeface="Calibri" pitchFamily="34" charset="-120"/>
              </a:rPr>
              <a:t>3</a:t>
            </a:r>
            <a:endParaRPr lang="en-US" sz="1400" dirty="0"/>
          </a:p>
        </p:txBody>
      </p:sp>
      <p:sp>
        <p:nvSpPr>
          <p:cNvPr id="23" name="Text 21"/>
          <p:cNvSpPr txBox="1"/>
          <p:nvPr/>
        </p:nvSpPr>
        <p:spPr>
          <a:xfrm>
            <a:off x="8676437" y="3913632"/>
            <a:ext cx="2966618" cy="2103120"/>
          </a:xfrm>
          <a:prstGeom prst="rect">
            <a:avLst/>
          </a:prstGeom>
          <a:noFill/>
          <a:ln/>
        </p:spPr>
        <p:txBody>
          <a:bodyPr wrap="square" lIns="0" tIns="0" rIns="0" bIns="0" rtlCol="0" anchor="t"/>
          <a:lstStyle/>
          <a:p>
            <a:pPr indent="0" marL="0">
              <a:buNone/>
            </a:pPr>
            <a:r>
              <a:rPr lang="en-US" sz="1500" dirty="0">
                <a:solidFill>
                  <a:srgbClr val="E4E4E7"/>
                </a:solidFill>
                <a:latin typeface="Calibri" pitchFamily="34" charset="0"/>
                <a:ea typeface="Calibri" pitchFamily="34" charset="-122"/>
                <a:cs typeface="Calibri" pitchFamily="34" charset="-120"/>
              </a:rPr>
              <a:t>De to reelle flaskehalsene, signatursjekk og UTXO-oppslag, flyttes fra CPU-en til Blitz-FPGA-er. De samme kortene tar senere unna postkvante-signaturer, som er 10 til 40 ganger større.</a:t>
            </a:r>
            <a:endParaRPr lang="en-US" sz="1500" dirty="0"/>
          </a:p>
        </p:txBody>
      </p:sp>
      <p:pic>
        <p:nvPicPr>
          <p:cNvPr id="25" name="Image 0" descr="preencoded.png">    </p:cNvPr>
          <p:cNvPicPr>
            <a:picLocks noChangeAspect="1"/>
          </p:cNvPicPr>
          <p:nvPr/>
        </p:nvPicPr>
        <p:blipFill>
          <a:blip r:embed="rId1"/>
          <a:stretch>
            <a:fillRect/>
          </a:stretch>
        </p:blipFill>
        <p:spPr>
          <a:xfrm>
            <a:off x="548640" y="6355080"/>
            <a:ext cx="256032" cy="246888"/>
          </a:xfrm>
          <a:prstGeom prst="rect">
            <a:avLst/>
          </a:prstGeom>
        </p:spPr>
      </p:pic>
      <p:sp>
        <p:nvSpPr>
          <p:cNvPr id="26" name="Text 22"/>
          <p:cNvSpPr txBox="1"/>
          <p:nvPr/>
        </p:nvSpPr>
        <p:spPr>
          <a:xfrm>
            <a:off x="877824" y="6400800"/>
            <a:ext cx="2743200" cy="274320"/>
          </a:xfrm>
          <a:prstGeom prst="rect">
            <a:avLst/>
          </a:prstGeom>
          <a:noFill/>
          <a:ln/>
        </p:spPr>
        <p:txBody>
          <a:bodyPr wrap="square" lIns="0" tIns="0" rIns="0" bIns="0" rtlCol="0" anchor="ctr"/>
          <a:lstStyle/>
          <a:p>
            <a:pPr algn="l" indent="0" marL="0">
              <a:buNone/>
            </a:pPr>
            <a:r>
              <a:rPr lang="en-US" sz="1000" dirty="0">
                <a:solidFill>
                  <a:srgbClr val="A1A1AA"/>
                </a:solidFill>
                <a:latin typeface="Calibri" pitchFamily="34" charset="0"/>
                <a:ea typeface="Calibri" pitchFamily="34" charset="-122"/>
                <a:cs typeface="Calibri" pitchFamily="34" charset="-120"/>
              </a:rPr>
              <a:t>Nexa · 2026</a:t>
            </a:r>
            <a:endParaRPr lang="en-US" sz="1000" dirty="0"/>
          </a:p>
        </p:txBody>
      </p:sp>
      <p:sp>
        <p:nvSpPr>
          <p:cNvPr id="27" name="Text 23"/>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A1A1AA"/>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0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1005840"/>
          </a:xfrm>
          <a:prstGeom prst="rect">
            <a:avLst/>
          </a:prstGeom>
          <a:noFill/>
          <a:ln/>
        </p:spPr>
        <p:txBody>
          <a:bodyPr wrap="square" lIns="0" tIns="0" rIns="0" bIns="0" rtlCol="0" anchor="t"/>
          <a:lstStyle/>
          <a:p>
            <a:pPr algn="l" indent="0" marL="0">
              <a:buNone/>
            </a:pPr>
            <a:r>
              <a:rPr lang="en-US" sz="3000" b="1" dirty="0">
                <a:solidFill>
                  <a:srgbClr val="FFFFFF"/>
                </a:solidFill>
                <a:latin typeface="Calibri" pitchFamily="34" charset="0"/>
                <a:ea typeface="Calibri" pitchFamily="34" charset="-122"/>
                <a:cs typeface="Calibri" pitchFamily="34" charset="-120"/>
              </a:rPr>
              <a:t>Betalinger som føles som Vipps: under to sekunder, rundt 3 NEXA (under 0,0001 dollar)</a:t>
            </a:r>
            <a:endParaRPr lang="en-US" sz="3000" dirty="0"/>
          </a:p>
        </p:txBody>
      </p:sp>
      <p:sp>
        <p:nvSpPr>
          <p:cNvPr id="3" name="Shape 1"/>
          <p:cNvSpPr/>
          <p:nvPr/>
        </p:nvSpPr>
        <p:spPr>
          <a:xfrm>
            <a:off x="548640" y="1691640"/>
            <a:ext cx="3515258" cy="3657600"/>
          </a:xfrm>
          <a:prstGeom prst="roundRect">
            <a:avLst>
              <a:gd name="adj" fmla="val 3121"/>
            </a:avLst>
          </a:prstGeom>
          <a:solidFill>
            <a:srgbClr val="18181B"/>
          </a:solidFill>
          <a:ln w="9525">
            <a:solidFill>
              <a:srgbClr val="2E2E35"/>
            </a:solidFill>
            <a:prstDash val="solid"/>
          </a:ln>
        </p:spPr>
      </p:sp>
      <p:sp>
        <p:nvSpPr>
          <p:cNvPr id="4" name="Shape 2"/>
          <p:cNvSpPr/>
          <p:nvPr/>
        </p:nvSpPr>
        <p:spPr>
          <a:xfrm>
            <a:off x="822960" y="1965960"/>
            <a:ext cx="640080" cy="640080"/>
          </a:xfrm>
          <a:prstGeom prst="ellipse">
            <a:avLst/>
          </a:prstGeom>
          <a:solidFill>
            <a:srgbClr val="F2CD3A"/>
          </a:solidFill>
          <a:ln w="12700">
            <a:solidFill>
              <a:srgbClr val="F2CD3A"/>
            </a:solidFill>
            <a:prstDash val="solid"/>
          </a:ln>
        </p:spPr>
      </p:sp>
      <p:pic>
        <p:nvPicPr>
          <p:cNvPr id="5" name="Image 0" descr="preencoded.png">    </p:cNvPr>
          <p:cNvPicPr>
            <a:picLocks noChangeAspect="1"/>
          </p:cNvPicPr>
          <p:nvPr/>
        </p:nvPicPr>
        <p:blipFill>
          <a:blip r:embed="rId1"/>
          <a:stretch>
            <a:fillRect/>
          </a:stretch>
        </p:blipFill>
        <p:spPr>
          <a:xfrm>
            <a:off x="976579" y="2119579"/>
            <a:ext cx="332842" cy="332842"/>
          </a:xfrm>
          <a:prstGeom prst="rect">
            <a:avLst/>
          </a:prstGeom>
        </p:spPr>
      </p:pic>
      <p:sp>
        <p:nvSpPr>
          <p:cNvPr id="6" name="Text 3"/>
          <p:cNvSpPr txBox="1"/>
          <p:nvPr/>
        </p:nvSpPr>
        <p:spPr>
          <a:xfrm>
            <a:off x="822960" y="2788920"/>
            <a:ext cx="2966618" cy="64008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Umiddelbart</a:t>
            </a:r>
            <a:endParaRPr lang="en-US" sz="1800" dirty="0"/>
          </a:p>
        </p:txBody>
      </p:sp>
      <p:sp>
        <p:nvSpPr>
          <p:cNvPr id="7" name="Text 4"/>
          <p:cNvSpPr txBox="1"/>
          <p:nvPr/>
        </p:nvSpPr>
        <p:spPr>
          <a:xfrm>
            <a:off x="822960" y="3474720"/>
            <a:ext cx="2966618" cy="1600200"/>
          </a:xfrm>
          <a:prstGeom prst="rect">
            <a:avLst/>
          </a:prstGeom>
          <a:noFill/>
          <a:ln/>
        </p:spPr>
        <p:txBody>
          <a:bodyPr wrap="square" lIns="0" tIns="0" rIns="0" bIns="0" rtlCol="0" anchor="t"/>
          <a:lstStyle/>
          <a:p>
            <a:pPr indent="0" marL="0">
              <a:spcAft>
                <a:spcPts val="600"/>
              </a:spcAft>
              <a:buNone/>
            </a:pPr>
            <a:r>
              <a:rPr lang="en-US" sz="1500" dirty="0">
                <a:solidFill>
                  <a:srgbClr val="E4E4E7"/>
                </a:solidFill>
                <a:latin typeface="Calibri" pitchFamily="34" charset="0"/>
                <a:ea typeface="Calibri" pitchFamily="34" charset="-122"/>
                <a:cs typeface="Calibri" pitchFamily="34" charset="-120"/>
              </a:rPr>
              <a:t>Nullbekreftelses-betalinger sikret med bevis mot dobbeltforbruk bekreftes på under to sekunder. Blokker kommer hvert andre minutt. Ingen venting i en time på seks bekreftelser.</a:t>
            </a:r>
            <a:endParaRPr lang="en-US" sz="1500" dirty="0"/>
          </a:p>
        </p:txBody>
      </p:sp>
      <p:sp>
        <p:nvSpPr>
          <p:cNvPr id="8" name="Shape 5"/>
          <p:cNvSpPr/>
          <p:nvPr/>
        </p:nvSpPr>
        <p:spPr>
          <a:xfrm>
            <a:off x="4338218" y="1691640"/>
            <a:ext cx="3515258" cy="3657600"/>
          </a:xfrm>
          <a:prstGeom prst="roundRect">
            <a:avLst>
              <a:gd name="adj" fmla="val 3121"/>
            </a:avLst>
          </a:prstGeom>
          <a:solidFill>
            <a:srgbClr val="18181B"/>
          </a:solidFill>
          <a:ln w="9525">
            <a:solidFill>
              <a:srgbClr val="2E2E35"/>
            </a:solidFill>
            <a:prstDash val="solid"/>
          </a:ln>
        </p:spPr>
      </p:sp>
      <p:sp>
        <p:nvSpPr>
          <p:cNvPr id="9" name="Shape 6"/>
          <p:cNvSpPr/>
          <p:nvPr/>
        </p:nvSpPr>
        <p:spPr>
          <a:xfrm>
            <a:off x="4612538" y="1965960"/>
            <a:ext cx="640080" cy="640080"/>
          </a:xfrm>
          <a:prstGeom prst="ellipse">
            <a:avLst/>
          </a:prstGeom>
          <a:solidFill>
            <a:srgbClr val="F2CD3A"/>
          </a:solidFill>
          <a:ln w="12700">
            <a:solidFill>
              <a:srgbClr val="F2CD3A"/>
            </a:solidFill>
            <a:prstDash val="solid"/>
          </a:ln>
        </p:spPr>
      </p:sp>
      <p:pic>
        <p:nvPicPr>
          <p:cNvPr id="10" name="Image 1" descr="preencoded.png">    </p:cNvPr>
          <p:cNvPicPr>
            <a:picLocks noChangeAspect="1"/>
          </p:cNvPicPr>
          <p:nvPr/>
        </p:nvPicPr>
        <p:blipFill>
          <a:blip r:embed="rId2"/>
          <a:stretch>
            <a:fillRect/>
          </a:stretch>
        </p:blipFill>
        <p:spPr>
          <a:xfrm>
            <a:off x="4766158" y="2119579"/>
            <a:ext cx="332842" cy="332842"/>
          </a:xfrm>
          <a:prstGeom prst="rect">
            <a:avLst/>
          </a:prstGeom>
        </p:spPr>
      </p:pic>
      <p:sp>
        <p:nvSpPr>
          <p:cNvPr id="11" name="Text 7"/>
          <p:cNvSpPr txBox="1"/>
          <p:nvPr/>
        </p:nvSpPr>
        <p:spPr>
          <a:xfrm>
            <a:off x="4612538" y="2788920"/>
            <a:ext cx="2966618" cy="64008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Nesten null gebyr</a:t>
            </a:r>
            <a:endParaRPr lang="en-US" sz="1800" dirty="0"/>
          </a:p>
        </p:txBody>
      </p:sp>
      <p:sp>
        <p:nvSpPr>
          <p:cNvPr id="12" name="Text 8"/>
          <p:cNvSpPr txBox="1"/>
          <p:nvPr/>
        </p:nvSpPr>
        <p:spPr>
          <a:xfrm>
            <a:off x="4612538" y="3474720"/>
            <a:ext cx="2966618" cy="1600200"/>
          </a:xfrm>
          <a:prstGeom prst="rect">
            <a:avLst/>
          </a:prstGeom>
          <a:noFill/>
          <a:ln/>
        </p:spPr>
        <p:txBody>
          <a:bodyPr wrap="square" lIns="0" tIns="0" rIns="0" bIns="0" rtlCol="0" anchor="t"/>
          <a:lstStyle/>
          <a:p>
            <a:pPr indent="0" marL="0">
              <a:spcAft>
                <a:spcPts val="600"/>
              </a:spcAft>
              <a:buNone/>
            </a:pPr>
            <a:r>
              <a:rPr lang="en-US" sz="1500" dirty="0">
                <a:solidFill>
                  <a:srgbClr val="E4E4E7"/>
                </a:solidFill>
                <a:latin typeface="Calibri" pitchFamily="34" charset="0"/>
                <a:ea typeface="Calibri" pitchFamily="34" charset="-122"/>
                <a:cs typeface="Calibri" pitchFamily="34" charset="-120"/>
              </a:rPr>
              <a:t>En vanlig transaksjon betaler rundt 3 NEXA i gebyr, omtrent 0,000004 dollar med dagens kurs og en brøkdel av et øre. Sammenlign med gebyrer målt i dollar på Bitcoin og gassauksjoner på Ethereums grunnlag.</a:t>
            </a:r>
            <a:endParaRPr lang="en-US" sz="1500" dirty="0"/>
          </a:p>
        </p:txBody>
      </p:sp>
      <p:sp>
        <p:nvSpPr>
          <p:cNvPr id="13" name="Shape 9"/>
          <p:cNvSpPr/>
          <p:nvPr/>
        </p:nvSpPr>
        <p:spPr>
          <a:xfrm>
            <a:off x="8127797" y="1691640"/>
            <a:ext cx="3515258" cy="3657600"/>
          </a:xfrm>
          <a:prstGeom prst="roundRect">
            <a:avLst>
              <a:gd name="adj" fmla="val 3121"/>
            </a:avLst>
          </a:prstGeom>
          <a:solidFill>
            <a:srgbClr val="18181B"/>
          </a:solidFill>
          <a:ln w="9525">
            <a:solidFill>
              <a:srgbClr val="2E2E35"/>
            </a:solidFill>
            <a:prstDash val="solid"/>
          </a:ln>
        </p:spPr>
      </p:sp>
      <p:sp>
        <p:nvSpPr>
          <p:cNvPr id="14" name="Shape 10"/>
          <p:cNvSpPr/>
          <p:nvPr/>
        </p:nvSpPr>
        <p:spPr>
          <a:xfrm>
            <a:off x="8402117" y="1965960"/>
            <a:ext cx="640080" cy="640080"/>
          </a:xfrm>
          <a:prstGeom prst="ellipse">
            <a:avLst/>
          </a:prstGeom>
          <a:solidFill>
            <a:srgbClr val="F2CD3A"/>
          </a:solidFill>
          <a:ln w="12700">
            <a:solidFill>
              <a:srgbClr val="F2CD3A"/>
            </a:solidFill>
            <a:prstDash val="solid"/>
          </a:ln>
        </p:spPr>
      </p:sp>
      <p:pic>
        <p:nvPicPr>
          <p:cNvPr id="15" name="Image 2" descr="preencoded.png">    </p:cNvPr>
          <p:cNvPicPr>
            <a:picLocks noChangeAspect="1"/>
          </p:cNvPicPr>
          <p:nvPr/>
        </p:nvPicPr>
        <p:blipFill>
          <a:blip r:embed="rId3"/>
          <a:stretch>
            <a:fillRect/>
          </a:stretch>
        </p:blipFill>
        <p:spPr>
          <a:xfrm>
            <a:off x="8555736" y="2119579"/>
            <a:ext cx="332842" cy="332842"/>
          </a:xfrm>
          <a:prstGeom prst="rect">
            <a:avLst/>
          </a:prstGeom>
        </p:spPr>
      </p:pic>
      <p:sp>
        <p:nvSpPr>
          <p:cNvPr id="16" name="Text 11"/>
          <p:cNvSpPr txBox="1"/>
          <p:nvPr/>
        </p:nvSpPr>
        <p:spPr>
          <a:xfrm>
            <a:off x="8402117" y="2788920"/>
            <a:ext cx="2966618" cy="64008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Nye typer betalinger</a:t>
            </a:r>
            <a:endParaRPr lang="en-US" sz="1800" dirty="0"/>
          </a:p>
        </p:txBody>
      </p:sp>
      <p:sp>
        <p:nvSpPr>
          <p:cNvPr id="17" name="Text 12"/>
          <p:cNvSpPr txBox="1"/>
          <p:nvPr/>
        </p:nvSpPr>
        <p:spPr>
          <a:xfrm>
            <a:off x="8402117" y="3474720"/>
            <a:ext cx="2966618" cy="1600200"/>
          </a:xfrm>
          <a:prstGeom prst="rect">
            <a:avLst/>
          </a:prstGeom>
          <a:noFill/>
          <a:ln/>
        </p:spPr>
        <p:txBody>
          <a:bodyPr wrap="square" lIns="0" tIns="0" rIns="0" bIns="0" rtlCol="0" anchor="t"/>
          <a:lstStyle/>
          <a:p>
            <a:pPr indent="0" marL="0">
              <a:spcAft>
                <a:spcPts val="600"/>
              </a:spcAft>
              <a:buNone/>
            </a:pPr>
            <a:r>
              <a:rPr lang="en-US" sz="1500" dirty="0">
                <a:solidFill>
                  <a:srgbClr val="E4E4E7"/>
                </a:solidFill>
                <a:latin typeface="Calibri" pitchFamily="34" charset="0"/>
                <a:ea typeface="Calibri" pitchFamily="34" charset="-122"/>
                <a:cs typeface="Calibri" pitchFamily="34" charset="-120"/>
              </a:rPr>
              <a:t>Mikrobetalinger, økonomier i spill og maskin-til-maskin-betalinger som kortnettverk, Bitcoin og Ethereum ikke kan prise. Energieffektive penger som også fungerer som kontanter.</a:t>
            </a:r>
            <a:endParaRPr lang="en-US" sz="1500" dirty="0"/>
          </a:p>
        </p:txBody>
      </p:sp>
      <p:pic>
        <p:nvPicPr>
          <p:cNvPr id="19" name="Image 3" descr="preencoded.png">    </p:cNvPr>
          <p:cNvPicPr>
            <a:picLocks noChangeAspect="1"/>
          </p:cNvPicPr>
          <p:nvPr/>
        </p:nvPicPr>
        <p:blipFill>
          <a:blip r:embed="rId4"/>
          <a:stretch>
            <a:fillRect/>
          </a:stretch>
        </p:blipFill>
        <p:spPr>
          <a:xfrm>
            <a:off x="548640" y="6355080"/>
            <a:ext cx="256032" cy="246888"/>
          </a:xfrm>
          <a:prstGeom prst="rect">
            <a:avLst/>
          </a:prstGeom>
        </p:spPr>
      </p:pic>
      <p:sp>
        <p:nvSpPr>
          <p:cNvPr id="20" name="Text 13"/>
          <p:cNvSpPr txBox="1"/>
          <p:nvPr/>
        </p:nvSpPr>
        <p:spPr>
          <a:xfrm>
            <a:off x="877824" y="6400800"/>
            <a:ext cx="2743200" cy="274320"/>
          </a:xfrm>
          <a:prstGeom prst="rect">
            <a:avLst/>
          </a:prstGeom>
          <a:noFill/>
          <a:ln/>
        </p:spPr>
        <p:txBody>
          <a:bodyPr wrap="square" lIns="0" tIns="0" rIns="0" bIns="0" rtlCol="0" anchor="ctr"/>
          <a:lstStyle/>
          <a:p>
            <a:pPr algn="l" indent="0" marL="0">
              <a:buNone/>
            </a:pPr>
            <a:r>
              <a:rPr lang="en-US" sz="1000" dirty="0">
                <a:solidFill>
                  <a:srgbClr val="A1A1AA"/>
                </a:solidFill>
                <a:latin typeface="Calibri" pitchFamily="34" charset="0"/>
                <a:ea typeface="Calibri" pitchFamily="34" charset="-122"/>
                <a:cs typeface="Calibri" pitchFamily="34" charset="-120"/>
              </a:rPr>
              <a:t>Nexa · 2026</a:t>
            </a:r>
            <a:endParaRPr lang="en-US" sz="1000" dirty="0"/>
          </a:p>
        </p:txBody>
      </p:sp>
      <p:sp>
        <p:nvSpPr>
          <p:cNvPr id="21" name="Text 14"/>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A1A1AA"/>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A0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1005840"/>
          </a:xfrm>
          <a:prstGeom prst="rect">
            <a:avLst/>
          </a:prstGeom>
          <a:noFill/>
          <a:ln/>
        </p:spPr>
        <p:txBody>
          <a:bodyPr wrap="square" lIns="0" tIns="0" rIns="0" bIns="0" rtlCol="0" anchor="t"/>
          <a:lstStyle/>
          <a:p>
            <a:pPr algn="l" indent="0" marL="0">
              <a:buNone/>
            </a:pPr>
            <a:r>
              <a:rPr lang="en-US" sz="3000" b="1" dirty="0">
                <a:solidFill>
                  <a:srgbClr val="FFFFFF"/>
                </a:solidFill>
                <a:latin typeface="Calibri" pitchFamily="34" charset="0"/>
                <a:ea typeface="Calibri" pitchFamily="34" charset="-122"/>
                <a:cs typeface="Calibri" pitchFamily="34" charset="-120"/>
              </a:rPr>
              <a:t>Tokens og NFT-er er bygget inn i protokollen, ikke skrudd på utenpå</a:t>
            </a:r>
            <a:endParaRPr lang="en-US" sz="3000" dirty="0"/>
          </a:p>
        </p:txBody>
      </p:sp>
      <p:sp>
        <p:nvSpPr>
          <p:cNvPr id="3" name="Shape 1"/>
          <p:cNvSpPr/>
          <p:nvPr/>
        </p:nvSpPr>
        <p:spPr>
          <a:xfrm>
            <a:off x="548640" y="1691640"/>
            <a:ext cx="3515258" cy="3657600"/>
          </a:xfrm>
          <a:prstGeom prst="roundRect">
            <a:avLst>
              <a:gd name="adj" fmla="val 3121"/>
            </a:avLst>
          </a:prstGeom>
          <a:solidFill>
            <a:srgbClr val="18181B"/>
          </a:solidFill>
          <a:ln w="9525">
            <a:solidFill>
              <a:srgbClr val="2E2E35"/>
            </a:solidFill>
            <a:prstDash val="solid"/>
          </a:ln>
        </p:spPr>
      </p:sp>
      <p:sp>
        <p:nvSpPr>
          <p:cNvPr id="4" name="Shape 2"/>
          <p:cNvSpPr/>
          <p:nvPr/>
        </p:nvSpPr>
        <p:spPr>
          <a:xfrm>
            <a:off x="822960" y="1965960"/>
            <a:ext cx="640080" cy="640080"/>
          </a:xfrm>
          <a:prstGeom prst="ellipse">
            <a:avLst/>
          </a:prstGeom>
          <a:solidFill>
            <a:srgbClr val="F2CD3A"/>
          </a:solidFill>
          <a:ln w="12700">
            <a:solidFill>
              <a:srgbClr val="F2CD3A"/>
            </a:solidFill>
            <a:prstDash val="solid"/>
          </a:ln>
        </p:spPr>
      </p:sp>
      <p:pic>
        <p:nvPicPr>
          <p:cNvPr id="5" name="Image 0" descr="preencoded.png">    </p:cNvPr>
          <p:cNvPicPr>
            <a:picLocks noChangeAspect="1"/>
          </p:cNvPicPr>
          <p:nvPr/>
        </p:nvPicPr>
        <p:blipFill>
          <a:blip r:embed="rId1"/>
          <a:stretch>
            <a:fillRect/>
          </a:stretch>
        </p:blipFill>
        <p:spPr>
          <a:xfrm>
            <a:off x="976579" y="2119579"/>
            <a:ext cx="332842" cy="332842"/>
          </a:xfrm>
          <a:prstGeom prst="rect">
            <a:avLst/>
          </a:prstGeom>
        </p:spPr>
      </p:pic>
      <p:sp>
        <p:nvSpPr>
          <p:cNvPr id="6" name="Text 3"/>
          <p:cNvSpPr txBox="1"/>
          <p:nvPr/>
        </p:nvSpPr>
        <p:spPr>
          <a:xfrm>
            <a:off x="822960" y="2788920"/>
            <a:ext cx="2966618" cy="64008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Innebygd, ikke en kontrakt</a:t>
            </a:r>
            <a:endParaRPr lang="en-US" sz="1800" dirty="0"/>
          </a:p>
        </p:txBody>
      </p:sp>
      <p:sp>
        <p:nvSpPr>
          <p:cNvPr id="7" name="Text 4"/>
          <p:cNvSpPr txBox="1"/>
          <p:nvPr/>
        </p:nvSpPr>
        <p:spPr>
          <a:xfrm>
            <a:off x="822960" y="3474720"/>
            <a:ext cx="2966618" cy="1600200"/>
          </a:xfrm>
          <a:prstGeom prst="rect">
            <a:avLst/>
          </a:prstGeom>
          <a:noFill/>
          <a:ln/>
        </p:spPr>
        <p:txBody>
          <a:bodyPr wrap="square" lIns="0" tIns="0" rIns="0" bIns="0" rtlCol="0" anchor="t"/>
          <a:lstStyle/>
          <a:p>
            <a:pPr indent="0" marL="0">
              <a:spcAft>
                <a:spcPts val="600"/>
              </a:spcAft>
              <a:buNone/>
            </a:pPr>
            <a:r>
              <a:rPr lang="en-US" sz="1500" dirty="0">
                <a:solidFill>
                  <a:srgbClr val="E4E4E7"/>
                </a:solidFill>
                <a:latin typeface="Calibri" pitchFamily="34" charset="0"/>
                <a:ea typeface="Calibri" pitchFamily="34" charset="-122"/>
                <a:cs typeface="Calibri" pitchFamily="34" charset="-120"/>
              </a:rPr>
              <a:t>Gruppetokens er en primitiv i selve kjeden. Ingen smartkontrakt betyr ingen kontraktfeil å utnytte, som er der de fleste Ethereum-tokenhack kommer fra.</a:t>
            </a:r>
            <a:endParaRPr lang="en-US" sz="1500" dirty="0"/>
          </a:p>
        </p:txBody>
      </p:sp>
      <p:sp>
        <p:nvSpPr>
          <p:cNvPr id="8" name="Shape 5"/>
          <p:cNvSpPr/>
          <p:nvPr/>
        </p:nvSpPr>
        <p:spPr>
          <a:xfrm>
            <a:off x="4338218" y="1691640"/>
            <a:ext cx="3515258" cy="3657600"/>
          </a:xfrm>
          <a:prstGeom prst="roundRect">
            <a:avLst>
              <a:gd name="adj" fmla="val 3121"/>
            </a:avLst>
          </a:prstGeom>
          <a:solidFill>
            <a:srgbClr val="18181B"/>
          </a:solidFill>
          <a:ln w="9525">
            <a:solidFill>
              <a:srgbClr val="2E2E35"/>
            </a:solidFill>
            <a:prstDash val="solid"/>
          </a:ln>
        </p:spPr>
      </p:sp>
      <p:sp>
        <p:nvSpPr>
          <p:cNvPr id="9" name="Shape 6"/>
          <p:cNvSpPr/>
          <p:nvPr/>
        </p:nvSpPr>
        <p:spPr>
          <a:xfrm>
            <a:off x="4612538" y="1965960"/>
            <a:ext cx="640080" cy="640080"/>
          </a:xfrm>
          <a:prstGeom prst="ellipse">
            <a:avLst/>
          </a:prstGeom>
          <a:solidFill>
            <a:srgbClr val="F2CD3A"/>
          </a:solidFill>
          <a:ln w="12700">
            <a:solidFill>
              <a:srgbClr val="F2CD3A"/>
            </a:solidFill>
            <a:prstDash val="solid"/>
          </a:ln>
        </p:spPr>
      </p:sp>
      <p:pic>
        <p:nvPicPr>
          <p:cNvPr id="10" name="Image 1" descr="preencoded.png">    </p:cNvPr>
          <p:cNvPicPr>
            <a:picLocks noChangeAspect="1"/>
          </p:cNvPicPr>
          <p:nvPr/>
        </p:nvPicPr>
        <p:blipFill>
          <a:blip r:embed="rId2"/>
          <a:stretch>
            <a:fillRect/>
          </a:stretch>
        </p:blipFill>
        <p:spPr>
          <a:xfrm>
            <a:off x="4766158" y="2119579"/>
            <a:ext cx="332842" cy="332842"/>
          </a:xfrm>
          <a:prstGeom prst="rect">
            <a:avLst/>
          </a:prstGeom>
        </p:spPr>
      </p:pic>
      <p:sp>
        <p:nvSpPr>
          <p:cNvPr id="11" name="Text 7"/>
          <p:cNvSpPr txBox="1"/>
          <p:nvPr/>
        </p:nvSpPr>
        <p:spPr>
          <a:xfrm>
            <a:off x="4612538" y="2788920"/>
            <a:ext cx="2966618" cy="64008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En brøkdel av et øre å utstede</a:t>
            </a:r>
            <a:endParaRPr lang="en-US" sz="1800" dirty="0"/>
          </a:p>
        </p:txBody>
      </p:sp>
      <p:sp>
        <p:nvSpPr>
          <p:cNvPr id="12" name="Text 8"/>
          <p:cNvSpPr txBox="1"/>
          <p:nvPr/>
        </p:nvSpPr>
        <p:spPr>
          <a:xfrm>
            <a:off x="4612538" y="3474720"/>
            <a:ext cx="2966618" cy="1600200"/>
          </a:xfrm>
          <a:prstGeom prst="rect">
            <a:avLst/>
          </a:prstGeom>
          <a:noFill/>
          <a:ln/>
        </p:spPr>
        <p:txBody>
          <a:bodyPr wrap="square" lIns="0" tIns="0" rIns="0" bIns="0" rtlCol="0" anchor="t"/>
          <a:lstStyle/>
          <a:p>
            <a:pPr indent="0" marL="0">
              <a:spcAft>
                <a:spcPts val="600"/>
              </a:spcAft>
              <a:buNone/>
            </a:pPr>
            <a:r>
              <a:rPr lang="en-US" sz="1500" dirty="0">
                <a:solidFill>
                  <a:srgbClr val="E4E4E7"/>
                </a:solidFill>
                <a:latin typeface="Calibri" pitchFamily="34" charset="0"/>
                <a:ea typeface="Calibri" pitchFamily="34" charset="-122"/>
                <a:cs typeface="Calibri" pitchFamily="34" charset="-120"/>
              </a:rPr>
              <a:t>Utstedelse er en vanlig transaksjon som koster noen få NEXA, uten gassauksjon, så en NFT trenger ikke et spekulasjonsmarked for å rettferdiggjøre at den finnes. Den kan rett og slett være en billett, en nøkkel eller en gjenstand i et spill.</a:t>
            </a:r>
            <a:endParaRPr lang="en-US" sz="1500" dirty="0"/>
          </a:p>
        </p:txBody>
      </p:sp>
      <p:sp>
        <p:nvSpPr>
          <p:cNvPr id="13" name="Shape 9"/>
          <p:cNvSpPr/>
          <p:nvPr/>
        </p:nvSpPr>
        <p:spPr>
          <a:xfrm>
            <a:off x="8127797" y="1691640"/>
            <a:ext cx="3515258" cy="3657600"/>
          </a:xfrm>
          <a:prstGeom prst="roundRect">
            <a:avLst>
              <a:gd name="adj" fmla="val 3121"/>
            </a:avLst>
          </a:prstGeom>
          <a:solidFill>
            <a:srgbClr val="18181B"/>
          </a:solidFill>
          <a:ln w="9525">
            <a:solidFill>
              <a:srgbClr val="2E2E35"/>
            </a:solidFill>
            <a:prstDash val="solid"/>
          </a:ln>
        </p:spPr>
      </p:sp>
      <p:sp>
        <p:nvSpPr>
          <p:cNvPr id="14" name="Shape 10"/>
          <p:cNvSpPr/>
          <p:nvPr/>
        </p:nvSpPr>
        <p:spPr>
          <a:xfrm>
            <a:off x="8402117" y="1965960"/>
            <a:ext cx="640080" cy="640080"/>
          </a:xfrm>
          <a:prstGeom prst="ellipse">
            <a:avLst/>
          </a:prstGeom>
          <a:solidFill>
            <a:srgbClr val="F2CD3A"/>
          </a:solidFill>
          <a:ln w="12700">
            <a:solidFill>
              <a:srgbClr val="F2CD3A"/>
            </a:solidFill>
            <a:prstDash val="solid"/>
          </a:ln>
        </p:spPr>
      </p:sp>
      <p:pic>
        <p:nvPicPr>
          <p:cNvPr id="15" name="Image 2" descr="preencoded.png">    </p:cNvPr>
          <p:cNvPicPr>
            <a:picLocks noChangeAspect="1"/>
          </p:cNvPicPr>
          <p:nvPr/>
        </p:nvPicPr>
        <p:blipFill>
          <a:blip r:embed="rId3"/>
          <a:stretch>
            <a:fillRect/>
          </a:stretch>
        </p:blipFill>
        <p:spPr>
          <a:xfrm>
            <a:off x="8555736" y="2119579"/>
            <a:ext cx="332842" cy="332842"/>
          </a:xfrm>
          <a:prstGeom prst="rect">
            <a:avLst/>
          </a:prstGeom>
        </p:spPr>
      </p:pic>
      <p:sp>
        <p:nvSpPr>
          <p:cNvPr id="16" name="Text 11"/>
          <p:cNvSpPr txBox="1"/>
          <p:nvPr/>
        </p:nvSpPr>
        <p:spPr>
          <a:xfrm>
            <a:off x="8402117" y="2788920"/>
            <a:ext cx="2966618" cy="64008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Bygget for nytte</a:t>
            </a:r>
            <a:endParaRPr lang="en-US" sz="1800" dirty="0"/>
          </a:p>
        </p:txBody>
      </p:sp>
      <p:sp>
        <p:nvSpPr>
          <p:cNvPr id="17" name="Text 12"/>
          <p:cNvSpPr txBox="1"/>
          <p:nvPr/>
        </p:nvSpPr>
        <p:spPr>
          <a:xfrm>
            <a:off x="8402117" y="3474720"/>
            <a:ext cx="2966618" cy="1600200"/>
          </a:xfrm>
          <a:prstGeom prst="rect">
            <a:avLst/>
          </a:prstGeom>
          <a:noFill/>
          <a:ln/>
        </p:spPr>
        <p:txBody>
          <a:bodyPr wrap="square" lIns="0" tIns="0" rIns="0" bIns="0" rtlCol="0" anchor="t"/>
          <a:lstStyle/>
          <a:p>
            <a:pPr indent="0" marL="0">
              <a:spcAft>
                <a:spcPts val="600"/>
              </a:spcAft>
              <a:buNone/>
            </a:pPr>
            <a:r>
              <a:rPr lang="en-US" sz="1500" dirty="0">
                <a:solidFill>
                  <a:srgbClr val="E4E4E7"/>
                </a:solidFill>
                <a:latin typeface="Calibri" pitchFamily="34" charset="0"/>
                <a:ea typeface="Calibri" pitchFamily="34" charset="-122"/>
                <a:cs typeface="Calibri" pitchFamily="34" charset="-120"/>
              </a:rPr>
              <a:t>Billetter, gjenstander i spill, sertifikater, identitet: selve gjenstanden, overførbar og verifiserbar for alle, i stedet for et veddemål på gjenstanden.</a:t>
            </a:r>
            <a:endParaRPr lang="en-US" sz="1500" dirty="0"/>
          </a:p>
        </p:txBody>
      </p:sp>
      <p:pic>
        <p:nvPicPr>
          <p:cNvPr id="19" name="Image 3" descr="preencoded.png">    </p:cNvPr>
          <p:cNvPicPr>
            <a:picLocks noChangeAspect="1"/>
          </p:cNvPicPr>
          <p:nvPr/>
        </p:nvPicPr>
        <p:blipFill>
          <a:blip r:embed="rId4"/>
          <a:stretch>
            <a:fillRect/>
          </a:stretch>
        </p:blipFill>
        <p:spPr>
          <a:xfrm>
            <a:off x="548640" y="6355080"/>
            <a:ext cx="256032" cy="246888"/>
          </a:xfrm>
          <a:prstGeom prst="rect">
            <a:avLst/>
          </a:prstGeom>
        </p:spPr>
      </p:pic>
      <p:sp>
        <p:nvSpPr>
          <p:cNvPr id="20" name="Text 13"/>
          <p:cNvSpPr txBox="1"/>
          <p:nvPr/>
        </p:nvSpPr>
        <p:spPr>
          <a:xfrm>
            <a:off x="877824" y="6400800"/>
            <a:ext cx="2743200" cy="274320"/>
          </a:xfrm>
          <a:prstGeom prst="rect">
            <a:avLst/>
          </a:prstGeom>
          <a:noFill/>
          <a:ln/>
        </p:spPr>
        <p:txBody>
          <a:bodyPr wrap="square" lIns="0" tIns="0" rIns="0" bIns="0" rtlCol="0" anchor="ctr"/>
          <a:lstStyle/>
          <a:p>
            <a:pPr algn="l" indent="0" marL="0">
              <a:buNone/>
            </a:pPr>
            <a:r>
              <a:rPr lang="en-US" sz="1000" dirty="0">
                <a:solidFill>
                  <a:srgbClr val="A1A1AA"/>
                </a:solidFill>
                <a:latin typeface="Calibri" pitchFamily="34" charset="0"/>
                <a:ea typeface="Calibri" pitchFamily="34" charset="-122"/>
                <a:cs typeface="Calibri" pitchFamily="34" charset="-120"/>
              </a:rPr>
              <a:t>Nexa · 2026</a:t>
            </a:r>
            <a:endParaRPr lang="en-US" sz="1000" dirty="0"/>
          </a:p>
        </p:txBody>
      </p:sp>
      <p:sp>
        <p:nvSpPr>
          <p:cNvPr id="21" name="Text 14"/>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A1A1AA"/>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A0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1005840"/>
          </a:xfrm>
          <a:prstGeom prst="rect">
            <a:avLst/>
          </a:prstGeom>
          <a:noFill/>
          <a:ln/>
        </p:spPr>
        <p:txBody>
          <a:bodyPr wrap="square" lIns="0" tIns="0" rIns="0" bIns="0" rtlCol="0" anchor="t"/>
          <a:lstStyle/>
          <a:p>
            <a:pPr algn="l" indent="0" marL="0">
              <a:buNone/>
            </a:pPr>
            <a:r>
              <a:rPr lang="en-US" sz="3000" b="1" dirty="0">
                <a:solidFill>
                  <a:srgbClr val="FFFFFF"/>
                </a:solidFill>
                <a:latin typeface="Calibri" pitchFamily="34" charset="0"/>
                <a:ea typeface="Calibri" pitchFamily="34" charset="-122"/>
                <a:cs typeface="Calibri" pitchFamily="34" charset="-120"/>
              </a:rPr>
              <a:t>Smartkontrakter uten EVM</a:t>
            </a:r>
            <a:endParaRPr lang="en-US" sz="3000" dirty="0"/>
          </a:p>
        </p:txBody>
      </p:sp>
      <p:sp>
        <p:nvSpPr>
          <p:cNvPr id="3" name="Shape 1"/>
          <p:cNvSpPr/>
          <p:nvPr/>
        </p:nvSpPr>
        <p:spPr>
          <a:xfrm>
            <a:off x="548640" y="1691640"/>
            <a:ext cx="3515258" cy="3657600"/>
          </a:xfrm>
          <a:prstGeom prst="roundRect">
            <a:avLst>
              <a:gd name="adj" fmla="val 3121"/>
            </a:avLst>
          </a:prstGeom>
          <a:solidFill>
            <a:srgbClr val="18181B"/>
          </a:solidFill>
          <a:ln w="9525">
            <a:solidFill>
              <a:srgbClr val="2E2E35"/>
            </a:solidFill>
            <a:prstDash val="solid"/>
          </a:ln>
        </p:spPr>
      </p:sp>
      <p:sp>
        <p:nvSpPr>
          <p:cNvPr id="4" name="Shape 2"/>
          <p:cNvSpPr/>
          <p:nvPr/>
        </p:nvSpPr>
        <p:spPr>
          <a:xfrm>
            <a:off x="822960" y="1965960"/>
            <a:ext cx="640080" cy="640080"/>
          </a:xfrm>
          <a:prstGeom prst="ellipse">
            <a:avLst/>
          </a:prstGeom>
          <a:solidFill>
            <a:srgbClr val="F2CD3A"/>
          </a:solidFill>
          <a:ln w="12700">
            <a:solidFill>
              <a:srgbClr val="F2CD3A"/>
            </a:solidFill>
            <a:prstDash val="solid"/>
          </a:ln>
        </p:spPr>
      </p:sp>
      <p:pic>
        <p:nvPicPr>
          <p:cNvPr id="5" name="Image 0" descr="preencoded.png">    </p:cNvPr>
          <p:cNvPicPr>
            <a:picLocks noChangeAspect="1"/>
          </p:cNvPicPr>
          <p:nvPr/>
        </p:nvPicPr>
        <p:blipFill>
          <a:blip r:embed="rId1"/>
          <a:stretch>
            <a:fillRect/>
          </a:stretch>
        </p:blipFill>
        <p:spPr>
          <a:xfrm>
            <a:off x="976579" y="2119579"/>
            <a:ext cx="332842" cy="332842"/>
          </a:xfrm>
          <a:prstGeom prst="rect">
            <a:avLst/>
          </a:prstGeom>
        </p:spPr>
      </p:pic>
      <p:sp>
        <p:nvSpPr>
          <p:cNvPr id="6" name="Text 3"/>
          <p:cNvSpPr txBox="1"/>
          <p:nvPr/>
        </p:nvSpPr>
        <p:spPr>
          <a:xfrm>
            <a:off x="822960" y="2788920"/>
            <a:ext cx="2966618" cy="64008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Skriptmaler</a:t>
            </a:r>
            <a:endParaRPr lang="en-US" sz="1800" dirty="0"/>
          </a:p>
        </p:txBody>
      </p:sp>
      <p:sp>
        <p:nvSpPr>
          <p:cNvPr id="7" name="Text 4"/>
          <p:cNvSpPr txBox="1"/>
          <p:nvPr/>
        </p:nvSpPr>
        <p:spPr>
          <a:xfrm>
            <a:off x="822960" y="3474720"/>
            <a:ext cx="2966618" cy="1600200"/>
          </a:xfrm>
          <a:prstGeom prst="rect">
            <a:avLst/>
          </a:prstGeom>
          <a:noFill/>
          <a:ln/>
        </p:spPr>
        <p:txBody>
          <a:bodyPr wrap="square" lIns="0" tIns="0" rIns="0" bIns="0" rtlCol="0" anchor="t"/>
          <a:lstStyle/>
          <a:p>
            <a:pPr indent="0" marL="0">
              <a:spcAft>
                <a:spcPts val="600"/>
              </a:spcAft>
              <a:buNone/>
            </a:pPr>
            <a:r>
              <a:rPr lang="en-US" sz="1500" dirty="0">
                <a:solidFill>
                  <a:srgbClr val="E4E4E7"/>
                </a:solidFill>
                <a:latin typeface="Calibri" pitchFamily="34" charset="0"/>
                <a:ea typeface="Calibri" pitchFamily="34" charset="-122"/>
                <a:cs typeface="Calibri" pitchFamily="34" charset="-120"/>
              </a:rPr>
              <a:t>Kontrakter er små, deterministiske skript knyttet til mynter og valideres parallelt som enhver annen transaksjon. Det finnes ingen global tilstandsmaskin å tette igjen.</a:t>
            </a:r>
            <a:endParaRPr lang="en-US" sz="1500" dirty="0"/>
          </a:p>
        </p:txBody>
      </p:sp>
      <p:sp>
        <p:nvSpPr>
          <p:cNvPr id="8" name="Shape 5"/>
          <p:cNvSpPr/>
          <p:nvPr/>
        </p:nvSpPr>
        <p:spPr>
          <a:xfrm>
            <a:off x="4338218" y="1691640"/>
            <a:ext cx="3515258" cy="3657600"/>
          </a:xfrm>
          <a:prstGeom prst="roundRect">
            <a:avLst>
              <a:gd name="adj" fmla="val 3121"/>
            </a:avLst>
          </a:prstGeom>
          <a:solidFill>
            <a:srgbClr val="18181B"/>
          </a:solidFill>
          <a:ln w="9525">
            <a:solidFill>
              <a:srgbClr val="2E2E35"/>
            </a:solidFill>
            <a:prstDash val="solid"/>
          </a:ln>
        </p:spPr>
      </p:sp>
      <p:sp>
        <p:nvSpPr>
          <p:cNvPr id="9" name="Shape 6"/>
          <p:cNvSpPr/>
          <p:nvPr/>
        </p:nvSpPr>
        <p:spPr>
          <a:xfrm>
            <a:off x="4612538" y="1965960"/>
            <a:ext cx="640080" cy="640080"/>
          </a:xfrm>
          <a:prstGeom prst="ellipse">
            <a:avLst/>
          </a:prstGeom>
          <a:solidFill>
            <a:srgbClr val="F2CD3A"/>
          </a:solidFill>
          <a:ln w="12700">
            <a:solidFill>
              <a:srgbClr val="F2CD3A"/>
            </a:solidFill>
            <a:prstDash val="solid"/>
          </a:ln>
        </p:spPr>
      </p:sp>
      <p:pic>
        <p:nvPicPr>
          <p:cNvPr id="10" name="Image 1" descr="preencoded.png">    </p:cNvPr>
          <p:cNvPicPr>
            <a:picLocks noChangeAspect="1"/>
          </p:cNvPicPr>
          <p:nvPr/>
        </p:nvPicPr>
        <p:blipFill>
          <a:blip r:embed="rId2"/>
          <a:stretch>
            <a:fillRect/>
          </a:stretch>
        </p:blipFill>
        <p:spPr>
          <a:xfrm>
            <a:off x="4766158" y="2119579"/>
            <a:ext cx="332842" cy="332842"/>
          </a:xfrm>
          <a:prstGeom prst="rect">
            <a:avLst/>
          </a:prstGeom>
        </p:spPr>
      </p:pic>
      <p:sp>
        <p:nvSpPr>
          <p:cNvPr id="11" name="Text 7"/>
          <p:cNvSpPr txBox="1"/>
          <p:nvPr/>
        </p:nvSpPr>
        <p:spPr>
          <a:xfrm>
            <a:off x="4612538" y="2788920"/>
            <a:ext cx="2966618" cy="64008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Ingen EVM-overhead</a:t>
            </a:r>
            <a:endParaRPr lang="en-US" sz="1800" dirty="0"/>
          </a:p>
        </p:txBody>
      </p:sp>
      <p:sp>
        <p:nvSpPr>
          <p:cNvPr id="12" name="Text 8"/>
          <p:cNvSpPr txBox="1"/>
          <p:nvPr/>
        </p:nvSpPr>
        <p:spPr>
          <a:xfrm>
            <a:off x="4612538" y="3474720"/>
            <a:ext cx="2966618" cy="1600200"/>
          </a:xfrm>
          <a:prstGeom prst="rect">
            <a:avLst/>
          </a:prstGeom>
          <a:noFill/>
          <a:ln/>
        </p:spPr>
        <p:txBody>
          <a:bodyPr wrap="square" lIns="0" tIns="0" rIns="0" bIns="0" rtlCol="0" anchor="t"/>
          <a:lstStyle/>
          <a:p>
            <a:pPr indent="0" marL="0">
              <a:spcAft>
                <a:spcPts val="600"/>
              </a:spcAft>
              <a:buNone/>
            </a:pPr>
            <a:r>
              <a:rPr lang="en-US" sz="1500" dirty="0">
                <a:solidFill>
                  <a:srgbClr val="E4E4E7"/>
                </a:solidFill>
                <a:latin typeface="Calibri" pitchFamily="34" charset="0"/>
                <a:ea typeface="Calibri" pitchFamily="34" charset="-122"/>
                <a:cs typeface="Calibri" pitchFamily="34" charset="-120"/>
              </a:rPr>
              <a:t>Intet gassmarked, ingen reentrancy-feilklasse, ingen gebyrhopp for alle når én app blir populær. Kontrakter kjører i de samme 42 000 TPS som vanlige betalinger.</a:t>
            </a:r>
            <a:endParaRPr lang="en-US" sz="1500" dirty="0"/>
          </a:p>
        </p:txBody>
      </p:sp>
      <p:sp>
        <p:nvSpPr>
          <p:cNvPr id="13" name="Shape 9"/>
          <p:cNvSpPr/>
          <p:nvPr/>
        </p:nvSpPr>
        <p:spPr>
          <a:xfrm>
            <a:off x="8127797" y="1691640"/>
            <a:ext cx="3515258" cy="3657600"/>
          </a:xfrm>
          <a:prstGeom prst="roundRect">
            <a:avLst>
              <a:gd name="adj" fmla="val 3121"/>
            </a:avLst>
          </a:prstGeom>
          <a:solidFill>
            <a:srgbClr val="18181B"/>
          </a:solidFill>
          <a:ln w="9525">
            <a:solidFill>
              <a:srgbClr val="2E2E35"/>
            </a:solidFill>
            <a:prstDash val="solid"/>
          </a:ln>
        </p:spPr>
      </p:sp>
      <p:sp>
        <p:nvSpPr>
          <p:cNvPr id="14" name="Shape 10"/>
          <p:cNvSpPr/>
          <p:nvPr/>
        </p:nvSpPr>
        <p:spPr>
          <a:xfrm>
            <a:off x="8402117" y="1965960"/>
            <a:ext cx="640080" cy="640080"/>
          </a:xfrm>
          <a:prstGeom prst="ellipse">
            <a:avLst/>
          </a:prstGeom>
          <a:solidFill>
            <a:srgbClr val="F2CD3A"/>
          </a:solidFill>
          <a:ln w="12700">
            <a:solidFill>
              <a:srgbClr val="F2CD3A"/>
            </a:solidFill>
            <a:prstDash val="solid"/>
          </a:ln>
        </p:spPr>
      </p:sp>
      <p:pic>
        <p:nvPicPr>
          <p:cNvPr id="15" name="Image 2" descr="preencoded.png">    </p:cNvPr>
          <p:cNvPicPr>
            <a:picLocks noChangeAspect="1"/>
          </p:cNvPicPr>
          <p:nvPr/>
        </p:nvPicPr>
        <p:blipFill>
          <a:blip r:embed="rId3"/>
          <a:stretch>
            <a:fillRect/>
          </a:stretch>
        </p:blipFill>
        <p:spPr>
          <a:xfrm>
            <a:off x="8555736" y="2119579"/>
            <a:ext cx="332842" cy="332842"/>
          </a:xfrm>
          <a:prstGeom prst="rect">
            <a:avLst/>
          </a:prstGeom>
        </p:spPr>
      </p:pic>
      <p:sp>
        <p:nvSpPr>
          <p:cNvPr id="16" name="Text 11"/>
          <p:cNvSpPr txBox="1"/>
          <p:nvPr/>
        </p:nvSpPr>
        <p:spPr>
          <a:xfrm>
            <a:off x="8402117" y="2788920"/>
            <a:ext cx="2966618" cy="64008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En hel plattform</a:t>
            </a:r>
            <a:endParaRPr lang="en-US" sz="1800" dirty="0"/>
          </a:p>
        </p:txBody>
      </p:sp>
      <p:sp>
        <p:nvSpPr>
          <p:cNvPr id="17" name="Text 12"/>
          <p:cNvSpPr txBox="1"/>
          <p:nvPr/>
        </p:nvSpPr>
        <p:spPr>
          <a:xfrm>
            <a:off x="8402117" y="3474720"/>
            <a:ext cx="2966618" cy="1600200"/>
          </a:xfrm>
          <a:prstGeom prst="rect">
            <a:avLst/>
          </a:prstGeom>
          <a:noFill/>
          <a:ln/>
        </p:spPr>
        <p:txBody>
          <a:bodyPr wrap="square" lIns="0" tIns="0" rIns="0" bIns="0" rtlCol="0" anchor="t"/>
          <a:lstStyle/>
          <a:p>
            <a:pPr indent="0" marL="0">
              <a:spcAft>
                <a:spcPts val="600"/>
              </a:spcAft>
              <a:buNone/>
            </a:pPr>
            <a:r>
              <a:rPr lang="en-US" sz="1500" dirty="0">
                <a:solidFill>
                  <a:srgbClr val="E4E4E7"/>
                </a:solidFill>
                <a:latin typeface="Calibri" pitchFamily="34" charset="0"/>
                <a:ea typeface="Calibri" pitchFamily="34" charset="-122"/>
                <a:cs typeface="Calibri" pitchFamily="34" charset="-120"/>
              </a:rPr>
              <a:t>Lommebokinnlogging med identitet på kjeden, betalingsforespørsler til brukerens lommebok og peer-to-peer-meldinger er del av stacken, med Kotlin- og JavaScript-biblioteker.</a:t>
            </a:r>
            <a:endParaRPr lang="en-US" sz="1500" dirty="0"/>
          </a:p>
        </p:txBody>
      </p:sp>
      <p:pic>
        <p:nvPicPr>
          <p:cNvPr id="19" name="Image 3" descr="preencoded.png">    </p:cNvPr>
          <p:cNvPicPr>
            <a:picLocks noChangeAspect="1"/>
          </p:cNvPicPr>
          <p:nvPr/>
        </p:nvPicPr>
        <p:blipFill>
          <a:blip r:embed="rId4"/>
          <a:stretch>
            <a:fillRect/>
          </a:stretch>
        </p:blipFill>
        <p:spPr>
          <a:xfrm>
            <a:off x="548640" y="6355080"/>
            <a:ext cx="256032" cy="246888"/>
          </a:xfrm>
          <a:prstGeom prst="rect">
            <a:avLst/>
          </a:prstGeom>
        </p:spPr>
      </p:pic>
      <p:sp>
        <p:nvSpPr>
          <p:cNvPr id="20" name="Text 13"/>
          <p:cNvSpPr txBox="1"/>
          <p:nvPr/>
        </p:nvSpPr>
        <p:spPr>
          <a:xfrm>
            <a:off x="877824" y="6400800"/>
            <a:ext cx="2743200" cy="274320"/>
          </a:xfrm>
          <a:prstGeom prst="rect">
            <a:avLst/>
          </a:prstGeom>
          <a:noFill/>
          <a:ln/>
        </p:spPr>
        <p:txBody>
          <a:bodyPr wrap="square" lIns="0" tIns="0" rIns="0" bIns="0" rtlCol="0" anchor="ctr"/>
          <a:lstStyle/>
          <a:p>
            <a:pPr algn="l" indent="0" marL="0">
              <a:buNone/>
            </a:pPr>
            <a:r>
              <a:rPr lang="en-US" sz="1000" dirty="0">
                <a:solidFill>
                  <a:srgbClr val="A1A1AA"/>
                </a:solidFill>
                <a:latin typeface="Calibri" pitchFamily="34" charset="0"/>
                <a:ea typeface="Calibri" pitchFamily="34" charset="-122"/>
                <a:cs typeface="Calibri" pitchFamily="34" charset="-120"/>
              </a:rPr>
              <a:t>Nexa · 2026</a:t>
            </a:r>
            <a:endParaRPr lang="en-US" sz="1000" dirty="0"/>
          </a:p>
        </p:txBody>
      </p:sp>
      <p:sp>
        <p:nvSpPr>
          <p:cNvPr id="21" name="Text 14"/>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A1A1AA"/>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A0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1005840"/>
          </a:xfrm>
          <a:prstGeom prst="rect">
            <a:avLst/>
          </a:prstGeom>
          <a:noFill/>
          <a:ln/>
        </p:spPr>
        <p:txBody>
          <a:bodyPr wrap="square" lIns="0" tIns="0" rIns="0" bIns="0" rtlCol="0" anchor="t"/>
          <a:lstStyle/>
          <a:p>
            <a:pPr algn="l" indent="0" marL="0">
              <a:buNone/>
            </a:pPr>
            <a:r>
              <a:rPr lang="en-US" sz="3000" b="1" dirty="0">
                <a:solidFill>
                  <a:srgbClr val="FFFFFF"/>
                </a:solidFill>
                <a:latin typeface="Calibri" pitchFamily="34" charset="0"/>
                <a:ea typeface="Calibri" pitchFamily="34" charset="-122"/>
                <a:cs typeface="Calibri" pitchFamily="34" charset="-120"/>
              </a:rPr>
              <a:t>Hvorfor dette betyr noe i Norge</a:t>
            </a:r>
            <a:endParaRPr lang="en-US" sz="3000" dirty="0"/>
          </a:p>
        </p:txBody>
      </p:sp>
      <p:sp>
        <p:nvSpPr>
          <p:cNvPr id="3" name="Shape 1"/>
          <p:cNvSpPr/>
          <p:nvPr/>
        </p:nvSpPr>
        <p:spPr>
          <a:xfrm>
            <a:off x="548640" y="1691640"/>
            <a:ext cx="3515258" cy="3657600"/>
          </a:xfrm>
          <a:prstGeom prst="roundRect">
            <a:avLst>
              <a:gd name="adj" fmla="val 3121"/>
            </a:avLst>
          </a:prstGeom>
          <a:solidFill>
            <a:srgbClr val="18181B"/>
          </a:solidFill>
          <a:ln w="9525">
            <a:solidFill>
              <a:srgbClr val="2E2E35"/>
            </a:solidFill>
            <a:prstDash val="solid"/>
          </a:ln>
        </p:spPr>
      </p:sp>
      <p:sp>
        <p:nvSpPr>
          <p:cNvPr id="4" name="Shape 2"/>
          <p:cNvSpPr/>
          <p:nvPr/>
        </p:nvSpPr>
        <p:spPr>
          <a:xfrm>
            <a:off x="822960" y="1965960"/>
            <a:ext cx="640080" cy="640080"/>
          </a:xfrm>
          <a:prstGeom prst="ellipse">
            <a:avLst/>
          </a:prstGeom>
          <a:solidFill>
            <a:srgbClr val="F2CD3A"/>
          </a:solidFill>
          <a:ln w="12700">
            <a:solidFill>
              <a:srgbClr val="F2CD3A"/>
            </a:solidFill>
            <a:prstDash val="solid"/>
          </a:ln>
        </p:spPr>
      </p:sp>
      <p:pic>
        <p:nvPicPr>
          <p:cNvPr id="5" name="Image 0" descr="preencoded.png">    </p:cNvPr>
          <p:cNvPicPr>
            <a:picLocks noChangeAspect="1"/>
          </p:cNvPicPr>
          <p:nvPr/>
        </p:nvPicPr>
        <p:blipFill>
          <a:blip r:embed="rId1"/>
          <a:stretch>
            <a:fillRect/>
          </a:stretch>
        </p:blipFill>
        <p:spPr>
          <a:xfrm>
            <a:off x="976579" y="2119579"/>
            <a:ext cx="332842" cy="332842"/>
          </a:xfrm>
          <a:prstGeom prst="rect">
            <a:avLst/>
          </a:prstGeom>
        </p:spPr>
      </p:pic>
      <p:sp>
        <p:nvSpPr>
          <p:cNvPr id="6" name="Text 3"/>
          <p:cNvSpPr txBox="1"/>
          <p:nvPr/>
        </p:nvSpPr>
        <p:spPr>
          <a:xfrm>
            <a:off x="822960" y="2788920"/>
            <a:ext cx="2966618" cy="64008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Et rent nett under press</a:t>
            </a:r>
            <a:endParaRPr lang="en-US" sz="1800" dirty="0"/>
          </a:p>
        </p:txBody>
      </p:sp>
      <p:sp>
        <p:nvSpPr>
          <p:cNvPr id="7" name="Text 4"/>
          <p:cNvSpPr txBox="1"/>
          <p:nvPr/>
        </p:nvSpPr>
        <p:spPr>
          <a:xfrm>
            <a:off x="822960" y="3474720"/>
            <a:ext cx="2966618" cy="1600200"/>
          </a:xfrm>
          <a:prstGeom prst="rect">
            <a:avLst/>
          </a:prstGeom>
          <a:noFill/>
          <a:ln/>
        </p:spPr>
        <p:txBody>
          <a:bodyPr wrap="square" lIns="0" tIns="0" rIns="0" bIns="0" rtlCol="0" anchor="t"/>
          <a:lstStyle/>
          <a:p>
            <a:pPr indent="0" marL="0">
              <a:spcAft>
                <a:spcPts val="600"/>
              </a:spcAft>
              <a:buNone/>
            </a:pPr>
            <a:r>
              <a:rPr lang="en-US" sz="1500" dirty="0">
                <a:solidFill>
                  <a:srgbClr val="E4E4E7"/>
                </a:solidFill>
                <a:latin typeface="Calibri" pitchFamily="34" charset="0"/>
                <a:ea typeface="Calibri" pitchFamily="34" charset="-122"/>
                <a:cs typeface="Calibri" pitchFamily="34" charset="-120"/>
              </a:rPr>
              <a:t>98 % av Norges strøm er vann og vind, likevel stanset regjeringen i 2025 nye proof-of-work-datasentre for å verne nettkapasiteten. Nexa-mining kjører på vanlige GPU-er og er ikke avhengig av datasentre.</a:t>
            </a:r>
            <a:endParaRPr lang="en-US" sz="1500" dirty="0"/>
          </a:p>
        </p:txBody>
      </p:sp>
      <p:sp>
        <p:nvSpPr>
          <p:cNvPr id="8" name="Shape 5"/>
          <p:cNvSpPr/>
          <p:nvPr/>
        </p:nvSpPr>
        <p:spPr>
          <a:xfrm>
            <a:off x="4338218" y="1691640"/>
            <a:ext cx="3515258" cy="3657600"/>
          </a:xfrm>
          <a:prstGeom prst="roundRect">
            <a:avLst>
              <a:gd name="adj" fmla="val 3121"/>
            </a:avLst>
          </a:prstGeom>
          <a:solidFill>
            <a:srgbClr val="18181B"/>
          </a:solidFill>
          <a:ln w="9525">
            <a:solidFill>
              <a:srgbClr val="2E2E35"/>
            </a:solidFill>
            <a:prstDash val="solid"/>
          </a:ln>
        </p:spPr>
      </p:sp>
      <p:sp>
        <p:nvSpPr>
          <p:cNvPr id="9" name="Shape 6"/>
          <p:cNvSpPr/>
          <p:nvPr/>
        </p:nvSpPr>
        <p:spPr>
          <a:xfrm>
            <a:off x="4612538" y="1965960"/>
            <a:ext cx="640080" cy="640080"/>
          </a:xfrm>
          <a:prstGeom prst="ellipse">
            <a:avLst/>
          </a:prstGeom>
          <a:solidFill>
            <a:srgbClr val="F7931A"/>
          </a:solidFill>
          <a:ln w="12700">
            <a:solidFill>
              <a:srgbClr val="F7931A"/>
            </a:solidFill>
            <a:prstDash val="solid"/>
          </a:ln>
        </p:spPr>
      </p:sp>
      <p:pic>
        <p:nvPicPr>
          <p:cNvPr id="10" name="Image 1" descr="preencoded.png">    </p:cNvPr>
          <p:cNvPicPr>
            <a:picLocks noChangeAspect="1"/>
          </p:cNvPicPr>
          <p:nvPr/>
        </p:nvPicPr>
        <p:blipFill>
          <a:blip r:embed="rId2"/>
          <a:stretch>
            <a:fillRect/>
          </a:stretch>
        </p:blipFill>
        <p:spPr>
          <a:xfrm>
            <a:off x="4766158" y="2119579"/>
            <a:ext cx="332842" cy="332842"/>
          </a:xfrm>
          <a:prstGeom prst="rect">
            <a:avLst/>
          </a:prstGeom>
        </p:spPr>
      </p:pic>
      <p:sp>
        <p:nvSpPr>
          <p:cNvPr id="11" name="Text 7"/>
          <p:cNvSpPr txBox="1"/>
          <p:nvPr/>
        </p:nvSpPr>
        <p:spPr>
          <a:xfrm>
            <a:off x="4612538" y="2788920"/>
            <a:ext cx="2966618" cy="64008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Bitcoin ≈ Norge</a:t>
            </a:r>
            <a:endParaRPr lang="en-US" sz="1800" dirty="0"/>
          </a:p>
        </p:txBody>
      </p:sp>
      <p:sp>
        <p:nvSpPr>
          <p:cNvPr id="12" name="Text 8"/>
          <p:cNvSpPr txBox="1"/>
          <p:nvPr/>
        </p:nvSpPr>
        <p:spPr>
          <a:xfrm>
            <a:off x="4612538" y="3474720"/>
            <a:ext cx="2966618" cy="1600200"/>
          </a:xfrm>
          <a:prstGeom prst="rect">
            <a:avLst/>
          </a:prstGeom>
          <a:noFill/>
          <a:ln/>
        </p:spPr>
        <p:txBody>
          <a:bodyPr wrap="square" lIns="0" tIns="0" rIns="0" bIns="0" rtlCol="0" anchor="t"/>
          <a:lstStyle/>
          <a:p>
            <a:pPr indent="0" marL="0">
              <a:spcAft>
                <a:spcPts val="600"/>
              </a:spcAft>
              <a:buNone/>
            </a:pPr>
            <a:r>
              <a:rPr lang="en-US" sz="1500" dirty="0">
                <a:solidFill>
                  <a:srgbClr val="E4E4E7"/>
                </a:solidFill>
                <a:latin typeface="Calibri" pitchFamily="34" charset="0"/>
                <a:ea typeface="Calibri" pitchFamily="34" charset="-122"/>
                <a:cs typeface="Calibri" pitchFamily="34" charset="-120"/>
              </a:rPr>
              <a:t>Bitcoins rundt 140 TWh i året tilsvarer hele Norges strømforbruk, for 7 transaksjoner i sekundet. Samme strøm på Nexa ville båret tusenvis av ganger flere betalinger.</a:t>
            </a:r>
            <a:endParaRPr lang="en-US" sz="1500" dirty="0"/>
          </a:p>
        </p:txBody>
      </p:sp>
      <p:sp>
        <p:nvSpPr>
          <p:cNvPr id="13" name="Shape 9"/>
          <p:cNvSpPr/>
          <p:nvPr/>
        </p:nvSpPr>
        <p:spPr>
          <a:xfrm>
            <a:off x="8127797" y="1691640"/>
            <a:ext cx="3515258" cy="3657600"/>
          </a:xfrm>
          <a:prstGeom prst="roundRect">
            <a:avLst>
              <a:gd name="adj" fmla="val 3121"/>
            </a:avLst>
          </a:prstGeom>
          <a:solidFill>
            <a:srgbClr val="18181B"/>
          </a:solidFill>
          <a:ln w="9525">
            <a:solidFill>
              <a:srgbClr val="2E2E35"/>
            </a:solidFill>
            <a:prstDash val="solid"/>
          </a:ln>
        </p:spPr>
      </p:sp>
      <p:sp>
        <p:nvSpPr>
          <p:cNvPr id="14" name="Shape 10"/>
          <p:cNvSpPr/>
          <p:nvPr/>
        </p:nvSpPr>
        <p:spPr>
          <a:xfrm>
            <a:off x="8402117" y="1965960"/>
            <a:ext cx="640080" cy="640080"/>
          </a:xfrm>
          <a:prstGeom prst="ellipse">
            <a:avLst/>
          </a:prstGeom>
          <a:solidFill>
            <a:srgbClr val="F2CD3A"/>
          </a:solidFill>
          <a:ln w="12700">
            <a:solidFill>
              <a:srgbClr val="F2CD3A"/>
            </a:solidFill>
            <a:prstDash val="solid"/>
          </a:ln>
        </p:spPr>
      </p:sp>
      <p:pic>
        <p:nvPicPr>
          <p:cNvPr id="15" name="Image 2" descr="preencoded.png">    </p:cNvPr>
          <p:cNvPicPr>
            <a:picLocks noChangeAspect="1"/>
          </p:cNvPicPr>
          <p:nvPr/>
        </p:nvPicPr>
        <p:blipFill>
          <a:blip r:embed="rId3"/>
          <a:stretch>
            <a:fillRect/>
          </a:stretch>
        </p:blipFill>
        <p:spPr>
          <a:xfrm>
            <a:off x="8555736" y="2119579"/>
            <a:ext cx="332842" cy="332842"/>
          </a:xfrm>
          <a:prstGeom prst="rect">
            <a:avLst/>
          </a:prstGeom>
        </p:spPr>
      </p:pic>
      <p:sp>
        <p:nvSpPr>
          <p:cNvPr id="16" name="Text 11"/>
          <p:cNvSpPr txBox="1"/>
          <p:nvPr/>
        </p:nvSpPr>
        <p:spPr>
          <a:xfrm>
            <a:off x="8402117" y="2788920"/>
            <a:ext cx="2966618" cy="64008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Et kontantløst land</a:t>
            </a:r>
            <a:endParaRPr lang="en-US" sz="1800" dirty="0"/>
          </a:p>
        </p:txBody>
      </p:sp>
      <p:sp>
        <p:nvSpPr>
          <p:cNvPr id="17" name="Text 12"/>
          <p:cNvSpPr txBox="1"/>
          <p:nvPr/>
        </p:nvSpPr>
        <p:spPr>
          <a:xfrm>
            <a:off x="8402117" y="3474720"/>
            <a:ext cx="2966618" cy="1600200"/>
          </a:xfrm>
          <a:prstGeom prst="rect">
            <a:avLst/>
          </a:prstGeom>
          <a:noFill/>
          <a:ln/>
        </p:spPr>
        <p:txBody>
          <a:bodyPr wrap="square" lIns="0" tIns="0" rIns="0" bIns="0" rtlCol="0" anchor="t"/>
          <a:lstStyle/>
          <a:p>
            <a:pPr indent="0" marL="0">
              <a:spcAft>
                <a:spcPts val="600"/>
              </a:spcAft>
              <a:buNone/>
            </a:pPr>
            <a:r>
              <a:rPr lang="en-US" sz="1500" dirty="0">
                <a:solidFill>
                  <a:srgbClr val="E4E4E7"/>
                </a:solidFill>
                <a:latin typeface="Calibri" pitchFamily="34" charset="0"/>
                <a:ea typeface="Calibri" pitchFamily="34" charset="-122"/>
                <a:cs typeface="Calibri" pitchFamily="34" charset="-120"/>
              </a:rPr>
              <a:t>Nordmenn betaler allerede med mobilen på sekunder. En rail for energieffektive penger som gjør opp på to sekunder for en brøkdel av et øre passer slik folk her allerede lever.</a:t>
            </a:r>
            <a:endParaRPr lang="en-US" sz="1500" dirty="0"/>
          </a:p>
        </p:txBody>
      </p:sp>
      <p:pic>
        <p:nvPicPr>
          <p:cNvPr id="19" name="Image 3" descr="preencoded.png">    </p:cNvPr>
          <p:cNvPicPr>
            <a:picLocks noChangeAspect="1"/>
          </p:cNvPicPr>
          <p:nvPr/>
        </p:nvPicPr>
        <p:blipFill>
          <a:blip r:embed="rId4"/>
          <a:stretch>
            <a:fillRect/>
          </a:stretch>
        </p:blipFill>
        <p:spPr>
          <a:xfrm>
            <a:off x="548640" y="6355080"/>
            <a:ext cx="256032" cy="246888"/>
          </a:xfrm>
          <a:prstGeom prst="rect">
            <a:avLst/>
          </a:prstGeom>
        </p:spPr>
      </p:pic>
      <p:sp>
        <p:nvSpPr>
          <p:cNvPr id="20" name="Text 13"/>
          <p:cNvSpPr txBox="1"/>
          <p:nvPr/>
        </p:nvSpPr>
        <p:spPr>
          <a:xfrm>
            <a:off x="877824" y="6400800"/>
            <a:ext cx="2743200" cy="274320"/>
          </a:xfrm>
          <a:prstGeom prst="rect">
            <a:avLst/>
          </a:prstGeom>
          <a:noFill/>
          <a:ln/>
        </p:spPr>
        <p:txBody>
          <a:bodyPr wrap="square" lIns="0" tIns="0" rIns="0" bIns="0" rtlCol="0" anchor="ctr"/>
          <a:lstStyle/>
          <a:p>
            <a:pPr algn="l" indent="0" marL="0">
              <a:buNone/>
            </a:pPr>
            <a:r>
              <a:rPr lang="en-US" sz="1000" dirty="0">
                <a:solidFill>
                  <a:srgbClr val="A1A1AA"/>
                </a:solidFill>
                <a:latin typeface="Calibri" pitchFamily="34" charset="0"/>
                <a:ea typeface="Calibri" pitchFamily="34" charset="-122"/>
                <a:cs typeface="Calibri" pitchFamily="34" charset="-120"/>
              </a:rPr>
              <a:t>Nexa · 2026</a:t>
            </a:r>
            <a:endParaRPr lang="en-US" sz="1000" dirty="0"/>
          </a:p>
        </p:txBody>
      </p:sp>
      <p:sp>
        <p:nvSpPr>
          <p:cNvPr id="21" name="Text 14"/>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A1A1AA"/>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A0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1005840"/>
          </a:xfrm>
          <a:prstGeom prst="rect">
            <a:avLst/>
          </a:prstGeom>
          <a:noFill/>
          <a:ln/>
        </p:spPr>
        <p:txBody>
          <a:bodyPr wrap="square" lIns="0" tIns="0" rIns="0" bIns="0" rtlCol="0" anchor="t"/>
          <a:lstStyle/>
          <a:p>
            <a:pPr algn="l" indent="0" marL="0">
              <a:buNone/>
            </a:pPr>
            <a:r>
              <a:rPr lang="en-US" sz="3000" b="1" dirty="0">
                <a:solidFill>
                  <a:srgbClr val="FFFFFF"/>
                </a:solidFill>
                <a:latin typeface="Calibri" pitchFamily="34" charset="0"/>
                <a:ea typeface="Calibri" pitchFamily="34" charset="-122"/>
                <a:cs typeface="Calibri" pitchFamily="34" charset="-120"/>
              </a:rPr>
              <a:t>Sammenligning i oversikt</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103120"/>
                <a:gridCol w="2834640"/>
                <a:gridCol w="2834640"/>
                <a:gridCol w="3322015"/>
              </a:tblGrid>
              <a:tr h="45720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Bekymring</a:t>
                      </a:r>
                      <a:endParaRPr lang="en-US" sz="1400" dirty="0">
                        <a:latin typeface="Calibri" charset="0"/>
                        <a:ea typeface="Calibri" charset="0"/>
                        <a:cs typeface="Calibri" charset="0"/>
                      </a:endParaRPr>
                    </a:p>
                  </a:txBody>
                  <a:tcPr marL="91440" marR="91440" marT="45720" marB="45720" anchor="ctr">
                    <a:lnL w="25400" cap="flat" cmpd="sng" algn="ctr">
                      <a:solidFill>
                        <a:srgbClr val="0A0A0F"/>
                      </a:solidFill>
                      <a:prstDash val="solid"/>
                      <a:round/>
                      <a:headEnd type="none" w="med" len="med"/>
                      <a:tailEnd type="none" w="med" len="med"/>
                    </a:lnL>
                    <a:lnR w="25400" cap="flat" cmpd="sng" algn="ctr">
                      <a:solidFill>
                        <a:srgbClr val="0A0A0F"/>
                      </a:solidFill>
                      <a:prstDash val="solid"/>
                      <a:round/>
                      <a:headEnd type="none" w="med" len="med"/>
                      <a:tailEnd type="none" w="med" len="med"/>
                    </a:lnR>
                    <a:lnT w="25400" cap="flat" cmpd="sng" algn="ctr">
                      <a:solidFill>
                        <a:srgbClr val="0A0A0F"/>
                      </a:solidFill>
                      <a:prstDash val="solid"/>
                      <a:round/>
                      <a:headEnd type="none" w="med" len="med"/>
                      <a:tailEnd type="none" w="med" len="med"/>
                    </a:lnT>
                    <a:lnB w="25400" cap="flat" cmpd="sng" algn="ctr">
                      <a:solidFill>
                        <a:srgbClr val="0A0A0F"/>
                      </a:solidFill>
                      <a:prstDash val="solid"/>
                      <a:round/>
                      <a:headEnd type="none" w="med" len="med"/>
                      <a:tailEnd type="none" w="med" len="med"/>
                    </a:lnB>
                    <a:solidFill>
                      <a:srgbClr val="27272A"/>
                    </a:solidFill>
                  </a:tcPr>
                </a:tc>
                <a:tc>
                  <a:txBody>
                    <a:bodyPr/>
                    <a:lstStyle/>
                    <a:p>
                      <a:pPr algn="ctr" indent="0" marL="0">
                        <a:buNone/>
                      </a:pPr>
                      <a:r>
                        <a:rPr lang="en-US" sz="1400" b="1" dirty="0">
                          <a:solidFill>
                            <a:srgbClr val="0A0A0F"/>
                          </a:solidFill>
                          <a:latin typeface="Calibri" pitchFamily="34" charset="0"/>
                          <a:ea typeface="Calibri" pitchFamily="34" charset="-122"/>
                          <a:cs typeface="Calibri" pitchFamily="34" charset="-120"/>
                        </a:rPr>
                        <a:t>Bitcoin</a:t>
                      </a:r>
                      <a:endParaRPr lang="en-US" sz="1400" dirty="0">
                        <a:latin typeface="Calibri" charset="0"/>
                        <a:ea typeface="Calibri" charset="0"/>
                        <a:cs typeface="Calibri" charset="0"/>
                      </a:endParaRPr>
                    </a:p>
                  </a:txBody>
                  <a:tcPr marL="91440" marR="91440" marT="45720" marB="45720" anchor="ctr">
                    <a:lnL w="25400" cap="flat" cmpd="sng" algn="ctr">
                      <a:solidFill>
                        <a:srgbClr val="0A0A0F"/>
                      </a:solidFill>
                      <a:prstDash val="solid"/>
                      <a:round/>
                      <a:headEnd type="none" w="med" len="med"/>
                      <a:tailEnd type="none" w="med" len="med"/>
                    </a:lnL>
                    <a:lnR w="25400" cap="flat" cmpd="sng" algn="ctr">
                      <a:solidFill>
                        <a:srgbClr val="0A0A0F"/>
                      </a:solidFill>
                      <a:prstDash val="solid"/>
                      <a:round/>
                      <a:headEnd type="none" w="med" len="med"/>
                      <a:tailEnd type="none" w="med" len="med"/>
                    </a:lnR>
                    <a:lnT w="25400" cap="flat" cmpd="sng" algn="ctr">
                      <a:solidFill>
                        <a:srgbClr val="0A0A0F"/>
                      </a:solidFill>
                      <a:prstDash val="solid"/>
                      <a:round/>
                      <a:headEnd type="none" w="med" len="med"/>
                      <a:tailEnd type="none" w="med" len="med"/>
                    </a:lnT>
                    <a:lnB w="25400" cap="flat" cmpd="sng" algn="ctr">
                      <a:solidFill>
                        <a:srgbClr val="0A0A0F"/>
                      </a:solidFill>
                      <a:prstDash val="solid"/>
                      <a:round/>
                      <a:headEnd type="none" w="med" len="med"/>
                      <a:tailEnd type="none" w="med" len="med"/>
                    </a:lnB>
                    <a:solidFill>
                      <a:srgbClr val="F7931A"/>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Ethereum</a:t>
                      </a:r>
                      <a:endParaRPr lang="en-US" sz="1400" dirty="0">
                        <a:latin typeface="Calibri" charset="0"/>
                        <a:ea typeface="Calibri" charset="0"/>
                        <a:cs typeface="Calibri" charset="0"/>
                      </a:endParaRPr>
                    </a:p>
                  </a:txBody>
                  <a:tcPr marL="91440" marR="91440" marT="45720" marB="45720" anchor="ctr">
                    <a:lnL w="25400" cap="flat" cmpd="sng" algn="ctr">
                      <a:solidFill>
                        <a:srgbClr val="0A0A0F"/>
                      </a:solidFill>
                      <a:prstDash val="solid"/>
                      <a:round/>
                      <a:headEnd type="none" w="med" len="med"/>
                      <a:tailEnd type="none" w="med" len="med"/>
                    </a:lnL>
                    <a:lnR w="25400" cap="flat" cmpd="sng" algn="ctr">
                      <a:solidFill>
                        <a:srgbClr val="0A0A0F"/>
                      </a:solidFill>
                      <a:prstDash val="solid"/>
                      <a:round/>
                      <a:headEnd type="none" w="med" len="med"/>
                      <a:tailEnd type="none" w="med" len="med"/>
                    </a:lnR>
                    <a:lnT w="25400" cap="flat" cmpd="sng" algn="ctr">
                      <a:solidFill>
                        <a:srgbClr val="0A0A0F"/>
                      </a:solidFill>
                      <a:prstDash val="solid"/>
                      <a:round/>
                      <a:headEnd type="none" w="med" len="med"/>
                      <a:tailEnd type="none" w="med" len="med"/>
                    </a:lnT>
                    <a:lnB w="25400" cap="flat" cmpd="sng" algn="ctr">
                      <a:solidFill>
                        <a:srgbClr val="0A0A0F"/>
                      </a:solidFill>
                      <a:prstDash val="solid"/>
                      <a:round/>
                      <a:headEnd type="none" w="med" len="med"/>
                      <a:tailEnd type="none" w="med" len="med"/>
                    </a:lnB>
                    <a:solidFill>
                      <a:srgbClr val="627EEA"/>
                    </a:solidFill>
                  </a:tcPr>
                </a:tc>
                <a:tc>
                  <a:txBody>
                    <a:bodyPr/>
                    <a:lstStyle/>
                    <a:p>
                      <a:pPr algn="ctr" indent="0" marL="0">
                        <a:buNone/>
                      </a:pPr>
                      <a:r>
                        <a:rPr lang="en-US" sz="1400" b="1" dirty="0">
                          <a:solidFill>
                            <a:srgbClr val="0A0A0F"/>
                          </a:solidFill>
                          <a:latin typeface="Calibri" pitchFamily="34" charset="0"/>
                          <a:ea typeface="Calibri" pitchFamily="34" charset="-122"/>
                          <a:cs typeface="Calibri" pitchFamily="34" charset="-120"/>
                        </a:rPr>
                        <a:t>Nexa</a:t>
                      </a:r>
                      <a:endParaRPr lang="en-US" sz="1400" dirty="0">
                        <a:latin typeface="Calibri" charset="0"/>
                        <a:ea typeface="Calibri" charset="0"/>
                        <a:cs typeface="Calibri" charset="0"/>
                      </a:endParaRPr>
                    </a:p>
                  </a:txBody>
                  <a:tcPr marL="91440" marR="91440" marT="45720" marB="45720" anchor="ctr">
                    <a:lnL w="25400" cap="flat" cmpd="sng" algn="ctr">
                      <a:solidFill>
                        <a:srgbClr val="0A0A0F"/>
                      </a:solidFill>
                      <a:prstDash val="solid"/>
                      <a:round/>
                      <a:headEnd type="none" w="med" len="med"/>
                      <a:tailEnd type="none" w="med" len="med"/>
                    </a:lnL>
                    <a:lnR w="25400" cap="flat" cmpd="sng" algn="ctr">
                      <a:solidFill>
                        <a:srgbClr val="0A0A0F"/>
                      </a:solidFill>
                      <a:prstDash val="solid"/>
                      <a:round/>
                      <a:headEnd type="none" w="med" len="med"/>
                      <a:tailEnd type="none" w="med" len="med"/>
                    </a:lnR>
                    <a:lnT w="25400" cap="flat" cmpd="sng" algn="ctr">
                      <a:solidFill>
                        <a:srgbClr val="0A0A0F"/>
                      </a:solidFill>
                      <a:prstDash val="solid"/>
                      <a:round/>
                      <a:headEnd type="none" w="med" len="med"/>
                      <a:tailEnd type="none" w="med" len="med"/>
                    </a:lnT>
                    <a:lnB w="25400" cap="flat" cmpd="sng" algn="ctr">
                      <a:solidFill>
                        <a:srgbClr val="0A0A0F"/>
                      </a:solidFill>
                      <a:prstDash val="solid"/>
                      <a:round/>
                      <a:headEnd type="none" w="med" len="med"/>
                      <a:tailEnd type="none" w="med" len="med"/>
                    </a:lnB>
                    <a:solidFill>
                      <a:srgbClr val="F2CD3A"/>
                    </a:solidFill>
                  </a:tcPr>
                </a:tc>
              </a:tr>
              <a:tr h="118872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Energi og maskinvare</a:t>
                      </a:r>
                      <a:endParaRPr lang="en-US" sz="1300" dirty="0">
                        <a:latin typeface="Calibri" charset="0"/>
                        <a:ea typeface="Calibri" charset="0"/>
                        <a:cs typeface="Calibri" charset="0"/>
                      </a:endParaRPr>
                    </a:p>
                  </a:txBody>
                  <a:tcPr marL="101600" marR="101600" marT="76200" marB="76200" anchor="ctr">
                    <a:lnL w="25400" cap="flat" cmpd="sng" algn="ctr">
                      <a:solidFill>
                        <a:srgbClr val="0A0A0F"/>
                      </a:solidFill>
                      <a:prstDash val="solid"/>
                      <a:round/>
                      <a:headEnd type="none" w="med" len="med"/>
                      <a:tailEnd type="none" w="med" len="med"/>
                    </a:lnL>
                    <a:lnR w="25400" cap="flat" cmpd="sng" algn="ctr">
                      <a:solidFill>
                        <a:srgbClr val="0A0A0F"/>
                      </a:solidFill>
                      <a:prstDash val="solid"/>
                      <a:round/>
                      <a:headEnd type="none" w="med" len="med"/>
                      <a:tailEnd type="none" w="med" len="med"/>
                    </a:lnR>
                    <a:lnT w="25400" cap="flat" cmpd="sng" algn="ctr">
                      <a:solidFill>
                        <a:srgbClr val="0A0A0F"/>
                      </a:solidFill>
                      <a:prstDash val="solid"/>
                      <a:round/>
                      <a:headEnd type="none" w="med" len="med"/>
                      <a:tailEnd type="none" w="med" len="med"/>
                    </a:lnT>
                    <a:lnB w="25400" cap="flat" cmpd="sng" algn="ctr">
                      <a:solidFill>
                        <a:srgbClr val="0A0A0F"/>
                      </a:solidFill>
                      <a:prstDash val="solid"/>
                      <a:round/>
                      <a:headEnd type="none" w="med" len="med"/>
                      <a:tailEnd type="none" w="med" len="med"/>
                    </a:lnB>
                    <a:solidFill>
                      <a:srgbClr val="18181B"/>
                    </a:solidFill>
                  </a:tcPr>
                </a:tc>
                <a:tc>
                  <a:txBody>
                    <a:bodyPr/>
                    <a:lstStyle/>
                    <a:p>
                      <a:pPr indent="0" marL="0">
                        <a:buNone/>
                      </a:pPr>
                      <a:r>
                        <a:rPr lang="en-US" sz="1300" dirty="0">
                          <a:solidFill>
                            <a:srgbClr val="E4E4E7"/>
                          </a:solidFill>
                          <a:latin typeface="Calibri" pitchFamily="34" charset="0"/>
                          <a:ea typeface="Calibri" pitchFamily="34" charset="-122"/>
                          <a:cs typeface="Calibri" pitchFamily="34" charset="-120"/>
                        </a:rPr>
                        <a:t>≈ 16 GW. Spesialbygde ASIC-er, 30 700 t e-avfall i året.</a:t>
                      </a:r>
                      <a:endParaRPr lang="en-US" sz="1300" dirty="0">
                        <a:latin typeface="Calibri" charset="0"/>
                        <a:ea typeface="Calibri" charset="0"/>
                        <a:cs typeface="Calibri" charset="0"/>
                      </a:endParaRPr>
                    </a:p>
                  </a:txBody>
                  <a:tcPr marL="101600" marR="101600" marT="76200" marB="76200" anchor="ctr">
                    <a:lnL w="25400" cap="flat" cmpd="sng" algn="ctr">
                      <a:solidFill>
                        <a:srgbClr val="0A0A0F"/>
                      </a:solidFill>
                      <a:prstDash val="solid"/>
                      <a:round/>
                      <a:headEnd type="none" w="med" len="med"/>
                      <a:tailEnd type="none" w="med" len="med"/>
                    </a:lnL>
                    <a:lnR w="25400" cap="flat" cmpd="sng" algn="ctr">
                      <a:solidFill>
                        <a:srgbClr val="0A0A0F"/>
                      </a:solidFill>
                      <a:prstDash val="solid"/>
                      <a:round/>
                      <a:headEnd type="none" w="med" len="med"/>
                      <a:tailEnd type="none" w="med" len="med"/>
                    </a:lnR>
                    <a:lnT w="25400" cap="flat" cmpd="sng" algn="ctr">
                      <a:solidFill>
                        <a:srgbClr val="0A0A0F"/>
                      </a:solidFill>
                      <a:prstDash val="solid"/>
                      <a:round/>
                      <a:headEnd type="none" w="med" len="med"/>
                      <a:tailEnd type="none" w="med" len="med"/>
                    </a:lnT>
                    <a:lnB w="25400" cap="flat" cmpd="sng" algn="ctr">
                      <a:solidFill>
                        <a:srgbClr val="0A0A0F"/>
                      </a:solidFill>
                      <a:prstDash val="solid"/>
                      <a:round/>
                      <a:headEnd type="none" w="med" len="med"/>
                      <a:tailEnd type="none" w="med" len="med"/>
                    </a:lnB>
                    <a:solidFill>
                      <a:srgbClr val="2A1A0C"/>
                    </a:solidFill>
                  </a:tcPr>
                </a:tc>
                <a:tc>
                  <a:txBody>
                    <a:bodyPr/>
                    <a:lstStyle/>
                    <a:p>
                      <a:pPr indent="0" marL="0">
                        <a:buNone/>
                      </a:pPr>
                      <a:r>
                        <a:rPr lang="en-US" sz="1300" dirty="0">
                          <a:solidFill>
                            <a:srgbClr val="E4E4E7"/>
                          </a:solidFill>
                          <a:latin typeface="Calibri" pitchFamily="34" charset="0"/>
                          <a:ea typeface="Calibri" pitchFamily="34" charset="-122"/>
                          <a:cs typeface="Calibri" pitchFamily="34" charset="-120"/>
                        </a:rPr>
                        <a:t>≈ 0,3 MW med proof of stake. Standardservere.</a:t>
                      </a:r>
                      <a:endParaRPr lang="en-US" sz="1300" dirty="0">
                        <a:latin typeface="Calibri" charset="0"/>
                        <a:ea typeface="Calibri" charset="0"/>
                        <a:cs typeface="Calibri" charset="0"/>
                      </a:endParaRPr>
                    </a:p>
                  </a:txBody>
                  <a:tcPr marL="101600" marR="101600" marT="76200" marB="76200" anchor="ctr">
                    <a:lnL w="25400" cap="flat" cmpd="sng" algn="ctr">
                      <a:solidFill>
                        <a:srgbClr val="0A0A0F"/>
                      </a:solidFill>
                      <a:prstDash val="solid"/>
                      <a:round/>
                      <a:headEnd type="none" w="med" len="med"/>
                      <a:tailEnd type="none" w="med" len="med"/>
                    </a:lnL>
                    <a:lnR w="25400" cap="flat" cmpd="sng" algn="ctr">
                      <a:solidFill>
                        <a:srgbClr val="0A0A0F"/>
                      </a:solidFill>
                      <a:prstDash val="solid"/>
                      <a:round/>
                      <a:headEnd type="none" w="med" len="med"/>
                      <a:tailEnd type="none" w="med" len="med"/>
                    </a:lnR>
                    <a:lnT w="25400" cap="flat" cmpd="sng" algn="ctr">
                      <a:solidFill>
                        <a:srgbClr val="0A0A0F"/>
                      </a:solidFill>
                      <a:prstDash val="solid"/>
                      <a:round/>
                      <a:headEnd type="none" w="med" len="med"/>
                      <a:tailEnd type="none" w="med" len="med"/>
                    </a:lnT>
                    <a:lnB w="25400" cap="flat" cmpd="sng" algn="ctr">
                      <a:solidFill>
                        <a:srgbClr val="0A0A0F"/>
                      </a:solidFill>
                      <a:prstDash val="solid"/>
                      <a:round/>
                      <a:headEnd type="none" w="med" len="med"/>
                      <a:tailEnd type="none" w="med" len="med"/>
                    </a:lnB>
                    <a:solidFill>
                      <a:srgbClr val="1A1F3A"/>
                    </a:solidFill>
                  </a:tcPr>
                </a:tc>
                <a:tc>
                  <a:txBody>
                    <a:bodyPr/>
                    <a:lstStyle/>
                    <a:p>
                      <a:pPr indent="0" marL="0">
                        <a:buNone/>
                      </a:pPr>
                      <a:r>
                        <a:rPr lang="en-US" sz="1300" dirty="0">
                          <a:solidFill>
                            <a:srgbClr val="E4E4E7"/>
                          </a:solidFill>
                          <a:latin typeface="Calibri" pitchFamily="34" charset="0"/>
                          <a:ea typeface="Calibri" pitchFamily="34" charset="-122"/>
                          <a:cs typeface="Calibri" pitchFamily="34" charset="-120"/>
                        </a:rPr>
                        <a:t>Også proof of work, så effekten følger prisen. Gjenbrukbare GPU-er, og i stor skala inntil 13 000× flere transaksjoner per kWh enn Bitcoin.</a:t>
                      </a:r>
                      <a:endParaRPr lang="en-US" sz="1300" dirty="0">
                        <a:latin typeface="Calibri" charset="0"/>
                        <a:ea typeface="Calibri" charset="0"/>
                        <a:cs typeface="Calibri" charset="0"/>
                      </a:endParaRPr>
                    </a:p>
                  </a:txBody>
                  <a:tcPr marL="101600" marR="101600" marT="76200" marB="76200" anchor="ctr">
                    <a:lnL w="25400" cap="flat" cmpd="sng" algn="ctr">
                      <a:solidFill>
                        <a:srgbClr val="0A0A0F"/>
                      </a:solidFill>
                      <a:prstDash val="solid"/>
                      <a:round/>
                      <a:headEnd type="none" w="med" len="med"/>
                      <a:tailEnd type="none" w="med" len="med"/>
                    </a:lnL>
                    <a:lnR w="25400" cap="flat" cmpd="sng" algn="ctr">
                      <a:solidFill>
                        <a:srgbClr val="0A0A0F"/>
                      </a:solidFill>
                      <a:prstDash val="solid"/>
                      <a:round/>
                      <a:headEnd type="none" w="med" len="med"/>
                      <a:tailEnd type="none" w="med" len="med"/>
                    </a:lnR>
                    <a:lnT w="25400" cap="flat" cmpd="sng" algn="ctr">
                      <a:solidFill>
                        <a:srgbClr val="0A0A0F"/>
                      </a:solidFill>
                      <a:prstDash val="solid"/>
                      <a:round/>
                      <a:headEnd type="none" w="med" len="med"/>
                      <a:tailEnd type="none" w="med" len="med"/>
                    </a:lnT>
                    <a:lnB w="25400" cap="flat" cmpd="sng" algn="ctr">
                      <a:solidFill>
                        <a:srgbClr val="0A0A0F"/>
                      </a:solidFill>
                      <a:prstDash val="solid"/>
                      <a:round/>
                      <a:headEnd type="none" w="med" len="med"/>
                      <a:tailEnd type="none" w="med" len="med"/>
                    </a:lnB>
                    <a:solidFill>
                      <a:srgbClr val="26210F"/>
                    </a:solidFill>
                  </a:tcPr>
                </a:tc>
              </a:tr>
              <a:tr h="118872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Hvem får de nye myntene</a:t>
                      </a:r>
                      <a:endParaRPr lang="en-US" sz="1300" dirty="0">
                        <a:latin typeface="Calibri" charset="0"/>
                        <a:ea typeface="Calibri" charset="0"/>
                        <a:cs typeface="Calibri" charset="0"/>
                      </a:endParaRPr>
                    </a:p>
                  </a:txBody>
                  <a:tcPr marL="101600" marR="101600" marT="76200" marB="76200" anchor="ctr">
                    <a:lnL w="25400" cap="flat" cmpd="sng" algn="ctr">
                      <a:solidFill>
                        <a:srgbClr val="0A0A0F"/>
                      </a:solidFill>
                      <a:prstDash val="solid"/>
                      <a:round/>
                      <a:headEnd type="none" w="med" len="med"/>
                      <a:tailEnd type="none" w="med" len="med"/>
                    </a:lnL>
                    <a:lnR w="25400" cap="flat" cmpd="sng" algn="ctr">
                      <a:solidFill>
                        <a:srgbClr val="0A0A0F"/>
                      </a:solidFill>
                      <a:prstDash val="solid"/>
                      <a:round/>
                      <a:headEnd type="none" w="med" len="med"/>
                      <a:tailEnd type="none" w="med" len="med"/>
                    </a:lnR>
                    <a:lnT w="25400" cap="flat" cmpd="sng" algn="ctr">
                      <a:solidFill>
                        <a:srgbClr val="0A0A0F"/>
                      </a:solidFill>
                      <a:prstDash val="solid"/>
                      <a:round/>
                      <a:headEnd type="none" w="med" len="med"/>
                      <a:tailEnd type="none" w="med" len="med"/>
                    </a:lnT>
                    <a:lnB w="25400" cap="flat" cmpd="sng" algn="ctr">
                      <a:solidFill>
                        <a:srgbClr val="0A0A0F"/>
                      </a:solidFill>
                      <a:prstDash val="solid"/>
                      <a:round/>
                      <a:headEnd type="none" w="med" len="med"/>
                      <a:tailEnd type="none" w="med" len="med"/>
                    </a:lnB>
                    <a:solidFill>
                      <a:srgbClr val="18181B"/>
                    </a:solidFill>
                  </a:tcPr>
                </a:tc>
                <a:tc>
                  <a:txBody>
                    <a:bodyPr/>
                    <a:lstStyle/>
                    <a:p>
                      <a:pPr indent="0" marL="0">
                        <a:buNone/>
                      </a:pPr>
                      <a:r>
                        <a:rPr lang="en-US" sz="1300" dirty="0">
                          <a:solidFill>
                            <a:srgbClr val="E4E4E7"/>
                          </a:solidFill>
                          <a:latin typeface="Calibri" pitchFamily="34" charset="0"/>
                          <a:ea typeface="Calibri" pitchFamily="34" charset="-122"/>
                          <a:cs typeface="Calibri" pitchFamily="34" charset="-120"/>
                        </a:rPr>
                        <a:t>Rettferdig start i 2009; i dag kan bare industrielle farmer mine.</a:t>
                      </a:r>
                      <a:endParaRPr lang="en-US" sz="1300" dirty="0">
                        <a:latin typeface="Calibri" charset="0"/>
                        <a:ea typeface="Calibri" charset="0"/>
                        <a:cs typeface="Calibri" charset="0"/>
                      </a:endParaRPr>
                    </a:p>
                  </a:txBody>
                  <a:tcPr marL="101600" marR="101600" marT="76200" marB="76200" anchor="ctr">
                    <a:lnL w="25400" cap="flat" cmpd="sng" algn="ctr">
                      <a:solidFill>
                        <a:srgbClr val="0A0A0F"/>
                      </a:solidFill>
                      <a:prstDash val="solid"/>
                      <a:round/>
                      <a:headEnd type="none" w="med" len="med"/>
                      <a:tailEnd type="none" w="med" len="med"/>
                    </a:lnL>
                    <a:lnR w="25400" cap="flat" cmpd="sng" algn="ctr">
                      <a:solidFill>
                        <a:srgbClr val="0A0A0F"/>
                      </a:solidFill>
                      <a:prstDash val="solid"/>
                      <a:round/>
                      <a:headEnd type="none" w="med" len="med"/>
                      <a:tailEnd type="none" w="med" len="med"/>
                    </a:lnR>
                    <a:lnT w="25400" cap="flat" cmpd="sng" algn="ctr">
                      <a:solidFill>
                        <a:srgbClr val="0A0A0F"/>
                      </a:solidFill>
                      <a:prstDash val="solid"/>
                      <a:round/>
                      <a:headEnd type="none" w="med" len="med"/>
                      <a:tailEnd type="none" w="med" len="med"/>
                    </a:lnT>
                    <a:lnB w="25400" cap="flat" cmpd="sng" algn="ctr">
                      <a:solidFill>
                        <a:srgbClr val="0A0A0F"/>
                      </a:solidFill>
                      <a:prstDash val="solid"/>
                      <a:round/>
                      <a:headEnd type="none" w="med" len="med"/>
                      <a:tailEnd type="none" w="med" len="med"/>
                    </a:lnB>
                    <a:solidFill>
                      <a:srgbClr val="2A1A0C"/>
                    </a:solidFill>
                  </a:tcPr>
                </a:tc>
                <a:tc>
                  <a:txBody>
                    <a:bodyPr/>
                    <a:lstStyle/>
                    <a:p>
                      <a:pPr indent="0" marL="0">
                        <a:buNone/>
                      </a:pPr>
                      <a:r>
                        <a:rPr lang="en-US" sz="1300" dirty="0">
                          <a:solidFill>
                            <a:srgbClr val="E4E4E7"/>
                          </a:solidFill>
                          <a:latin typeface="Calibri" pitchFamily="34" charset="0"/>
                          <a:ea typeface="Calibri" pitchFamily="34" charset="-122"/>
                          <a:cs typeface="Calibri" pitchFamily="34" charset="-120"/>
                        </a:rPr>
                        <a:t>72M ETH premined. Belønning proporsjonal med innsatsen man eier.</a:t>
                      </a:r>
                      <a:endParaRPr lang="en-US" sz="1300" dirty="0">
                        <a:latin typeface="Calibri" charset="0"/>
                        <a:ea typeface="Calibri" charset="0"/>
                        <a:cs typeface="Calibri" charset="0"/>
                      </a:endParaRPr>
                    </a:p>
                  </a:txBody>
                  <a:tcPr marL="101600" marR="101600" marT="76200" marB="76200" anchor="ctr">
                    <a:lnL w="25400" cap="flat" cmpd="sng" algn="ctr">
                      <a:solidFill>
                        <a:srgbClr val="0A0A0F"/>
                      </a:solidFill>
                      <a:prstDash val="solid"/>
                      <a:round/>
                      <a:headEnd type="none" w="med" len="med"/>
                      <a:tailEnd type="none" w="med" len="med"/>
                    </a:lnL>
                    <a:lnR w="25400" cap="flat" cmpd="sng" algn="ctr">
                      <a:solidFill>
                        <a:srgbClr val="0A0A0F"/>
                      </a:solidFill>
                      <a:prstDash val="solid"/>
                      <a:round/>
                      <a:headEnd type="none" w="med" len="med"/>
                      <a:tailEnd type="none" w="med" len="med"/>
                    </a:lnR>
                    <a:lnT w="25400" cap="flat" cmpd="sng" algn="ctr">
                      <a:solidFill>
                        <a:srgbClr val="0A0A0F"/>
                      </a:solidFill>
                      <a:prstDash val="solid"/>
                      <a:round/>
                      <a:headEnd type="none" w="med" len="med"/>
                      <a:tailEnd type="none" w="med" len="med"/>
                    </a:lnT>
                    <a:lnB w="25400" cap="flat" cmpd="sng" algn="ctr">
                      <a:solidFill>
                        <a:srgbClr val="0A0A0F"/>
                      </a:solidFill>
                      <a:prstDash val="solid"/>
                      <a:round/>
                      <a:headEnd type="none" w="med" len="med"/>
                      <a:tailEnd type="none" w="med" len="med"/>
                    </a:lnB>
                    <a:solidFill>
                      <a:srgbClr val="1A1F3A"/>
                    </a:solidFill>
                  </a:tcPr>
                </a:tc>
                <a:tc>
                  <a:txBody>
                    <a:bodyPr/>
                    <a:lstStyle/>
                    <a:p>
                      <a:pPr indent="0" marL="0">
                        <a:buNone/>
                      </a:pPr>
                      <a:r>
                        <a:rPr lang="en-US" sz="1300" dirty="0">
                          <a:solidFill>
                            <a:srgbClr val="E4E4E7"/>
                          </a:solidFill>
                          <a:latin typeface="Calibri" pitchFamily="34" charset="0"/>
                          <a:ea typeface="Calibri" pitchFamily="34" charset="-122"/>
                          <a:cs typeface="Calibri" pitchFamily="34" charset="-120"/>
                        </a:rPr>
                        <a:t>Ingen premine, ingen ICO, ingen VC-er. 100 % utvunnet offentlig siden 2022, åpent for alle med en GPU.</a:t>
                      </a:r>
                      <a:endParaRPr lang="en-US" sz="1300" dirty="0">
                        <a:latin typeface="Calibri" charset="0"/>
                        <a:ea typeface="Calibri" charset="0"/>
                        <a:cs typeface="Calibri" charset="0"/>
                      </a:endParaRPr>
                    </a:p>
                  </a:txBody>
                  <a:tcPr marL="101600" marR="101600" marT="76200" marB="76200" anchor="ctr">
                    <a:lnL w="25400" cap="flat" cmpd="sng" algn="ctr">
                      <a:solidFill>
                        <a:srgbClr val="0A0A0F"/>
                      </a:solidFill>
                      <a:prstDash val="solid"/>
                      <a:round/>
                      <a:headEnd type="none" w="med" len="med"/>
                      <a:tailEnd type="none" w="med" len="med"/>
                    </a:lnL>
                    <a:lnR w="25400" cap="flat" cmpd="sng" algn="ctr">
                      <a:solidFill>
                        <a:srgbClr val="0A0A0F"/>
                      </a:solidFill>
                      <a:prstDash val="solid"/>
                      <a:round/>
                      <a:headEnd type="none" w="med" len="med"/>
                      <a:tailEnd type="none" w="med" len="med"/>
                    </a:lnR>
                    <a:lnT w="25400" cap="flat" cmpd="sng" algn="ctr">
                      <a:solidFill>
                        <a:srgbClr val="0A0A0F"/>
                      </a:solidFill>
                      <a:prstDash val="solid"/>
                      <a:round/>
                      <a:headEnd type="none" w="med" len="med"/>
                      <a:tailEnd type="none" w="med" len="med"/>
                    </a:lnT>
                    <a:lnB w="25400" cap="flat" cmpd="sng" algn="ctr">
                      <a:solidFill>
                        <a:srgbClr val="0A0A0F"/>
                      </a:solidFill>
                      <a:prstDash val="solid"/>
                      <a:round/>
                      <a:headEnd type="none" w="med" len="med"/>
                      <a:tailEnd type="none" w="med" len="med"/>
                    </a:lnB>
                    <a:solidFill>
                      <a:srgbClr val="26210F"/>
                    </a:solidFill>
                  </a:tcPr>
                </a:tc>
              </a:tr>
              <a:tr h="118872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Tokens og NFT-er</a:t>
                      </a:r>
                      <a:endParaRPr lang="en-US" sz="1300" dirty="0">
                        <a:latin typeface="Calibri" charset="0"/>
                        <a:ea typeface="Calibri" charset="0"/>
                        <a:cs typeface="Calibri" charset="0"/>
                      </a:endParaRPr>
                    </a:p>
                  </a:txBody>
                  <a:tcPr marL="101600" marR="101600" marT="76200" marB="76200" anchor="ctr">
                    <a:lnL w="25400" cap="flat" cmpd="sng" algn="ctr">
                      <a:solidFill>
                        <a:srgbClr val="0A0A0F"/>
                      </a:solidFill>
                      <a:prstDash val="solid"/>
                      <a:round/>
                      <a:headEnd type="none" w="med" len="med"/>
                      <a:tailEnd type="none" w="med" len="med"/>
                    </a:lnL>
                    <a:lnR w="25400" cap="flat" cmpd="sng" algn="ctr">
                      <a:solidFill>
                        <a:srgbClr val="0A0A0F"/>
                      </a:solidFill>
                      <a:prstDash val="solid"/>
                      <a:round/>
                      <a:headEnd type="none" w="med" len="med"/>
                      <a:tailEnd type="none" w="med" len="med"/>
                    </a:lnR>
                    <a:lnT w="25400" cap="flat" cmpd="sng" algn="ctr">
                      <a:solidFill>
                        <a:srgbClr val="0A0A0F"/>
                      </a:solidFill>
                      <a:prstDash val="solid"/>
                      <a:round/>
                      <a:headEnd type="none" w="med" len="med"/>
                      <a:tailEnd type="none" w="med" len="med"/>
                    </a:lnT>
                    <a:lnB w="25400" cap="flat" cmpd="sng" algn="ctr">
                      <a:solidFill>
                        <a:srgbClr val="0A0A0F"/>
                      </a:solidFill>
                      <a:prstDash val="solid"/>
                      <a:round/>
                      <a:headEnd type="none" w="med" len="med"/>
                      <a:tailEnd type="none" w="med" len="med"/>
                    </a:lnB>
                    <a:solidFill>
                      <a:srgbClr val="18181B"/>
                    </a:solidFill>
                  </a:tcPr>
                </a:tc>
                <a:tc>
                  <a:txBody>
                    <a:bodyPr/>
                    <a:lstStyle/>
                    <a:p>
                      <a:pPr indent="0" marL="0">
                        <a:buNone/>
                      </a:pPr>
                      <a:r>
                        <a:rPr lang="en-US" sz="1300" dirty="0">
                          <a:solidFill>
                            <a:srgbClr val="E4E4E7"/>
                          </a:solidFill>
                          <a:latin typeface="Calibri" pitchFamily="34" charset="0"/>
                          <a:ea typeface="Calibri" pitchFamily="34" charset="-122"/>
                          <a:cs typeface="Calibri" pitchFamily="34" charset="-120"/>
                        </a:rPr>
                        <a:t>Ikke innebygd. Inskripsjoner konkurrerer om knapp blokkplass.</a:t>
                      </a:r>
                      <a:endParaRPr lang="en-US" sz="1300" dirty="0">
                        <a:latin typeface="Calibri" charset="0"/>
                        <a:ea typeface="Calibri" charset="0"/>
                        <a:cs typeface="Calibri" charset="0"/>
                      </a:endParaRPr>
                    </a:p>
                  </a:txBody>
                  <a:tcPr marL="101600" marR="101600" marT="76200" marB="76200" anchor="ctr">
                    <a:lnL w="25400" cap="flat" cmpd="sng" algn="ctr">
                      <a:solidFill>
                        <a:srgbClr val="0A0A0F"/>
                      </a:solidFill>
                      <a:prstDash val="solid"/>
                      <a:round/>
                      <a:headEnd type="none" w="med" len="med"/>
                      <a:tailEnd type="none" w="med" len="med"/>
                    </a:lnL>
                    <a:lnR w="25400" cap="flat" cmpd="sng" algn="ctr">
                      <a:solidFill>
                        <a:srgbClr val="0A0A0F"/>
                      </a:solidFill>
                      <a:prstDash val="solid"/>
                      <a:round/>
                      <a:headEnd type="none" w="med" len="med"/>
                      <a:tailEnd type="none" w="med" len="med"/>
                    </a:lnR>
                    <a:lnT w="25400" cap="flat" cmpd="sng" algn="ctr">
                      <a:solidFill>
                        <a:srgbClr val="0A0A0F"/>
                      </a:solidFill>
                      <a:prstDash val="solid"/>
                      <a:round/>
                      <a:headEnd type="none" w="med" len="med"/>
                      <a:tailEnd type="none" w="med" len="med"/>
                    </a:lnT>
                    <a:lnB w="25400" cap="flat" cmpd="sng" algn="ctr">
                      <a:solidFill>
                        <a:srgbClr val="0A0A0F"/>
                      </a:solidFill>
                      <a:prstDash val="solid"/>
                      <a:round/>
                      <a:headEnd type="none" w="med" len="med"/>
                      <a:tailEnd type="none" w="med" len="med"/>
                    </a:lnB>
                    <a:solidFill>
                      <a:srgbClr val="2A1A0C"/>
                    </a:solidFill>
                  </a:tcPr>
                </a:tc>
                <a:tc>
                  <a:txBody>
                    <a:bodyPr/>
                    <a:lstStyle/>
                    <a:p>
                      <a:pPr indent="0" marL="0">
                        <a:buNone/>
                      </a:pPr>
                      <a:r>
                        <a:rPr lang="en-US" sz="1300" dirty="0">
                          <a:solidFill>
                            <a:srgbClr val="E4E4E7"/>
                          </a:solidFill>
                          <a:latin typeface="Calibri" pitchFamily="34" charset="0"/>
                          <a:ea typeface="Calibri" pitchFamily="34" charset="-122"/>
                          <a:cs typeface="Calibri" pitchFamily="34" charset="-120"/>
                        </a:rPr>
                        <a:t>Smartkontrakt-tokens: gassauksjoner og kontraktutnyttelser.</a:t>
                      </a:r>
                      <a:endParaRPr lang="en-US" sz="1300" dirty="0">
                        <a:latin typeface="Calibri" charset="0"/>
                        <a:ea typeface="Calibri" charset="0"/>
                        <a:cs typeface="Calibri" charset="0"/>
                      </a:endParaRPr>
                    </a:p>
                  </a:txBody>
                  <a:tcPr marL="101600" marR="101600" marT="76200" marB="76200" anchor="ctr">
                    <a:lnL w="25400" cap="flat" cmpd="sng" algn="ctr">
                      <a:solidFill>
                        <a:srgbClr val="0A0A0F"/>
                      </a:solidFill>
                      <a:prstDash val="solid"/>
                      <a:round/>
                      <a:headEnd type="none" w="med" len="med"/>
                      <a:tailEnd type="none" w="med" len="med"/>
                    </a:lnL>
                    <a:lnR w="25400" cap="flat" cmpd="sng" algn="ctr">
                      <a:solidFill>
                        <a:srgbClr val="0A0A0F"/>
                      </a:solidFill>
                      <a:prstDash val="solid"/>
                      <a:round/>
                      <a:headEnd type="none" w="med" len="med"/>
                      <a:tailEnd type="none" w="med" len="med"/>
                    </a:lnR>
                    <a:lnT w="25400" cap="flat" cmpd="sng" algn="ctr">
                      <a:solidFill>
                        <a:srgbClr val="0A0A0F"/>
                      </a:solidFill>
                      <a:prstDash val="solid"/>
                      <a:round/>
                      <a:headEnd type="none" w="med" len="med"/>
                      <a:tailEnd type="none" w="med" len="med"/>
                    </a:lnT>
                    <a:lnB w="25400" cap="flat" cmpd="sng" algn="ctr">
                      <a:solidFill>
                        <a:srgbClr val="0A0A0F"/>
                      </a:solidFill>
                      <a:prstDash val="solid"/>
                      <a:round/>
                      <a:headEnd type="none" w="med" len="med"/>
                      <a:tailEnd type="none" w="med" len="med"/>
                    </a:lnB>
                    <a:solidFill>
                      <a:srgbClr val="1A1F3A"/>
                    </a:solidFill>
                  </a:tcPr>
                </a:tc>
                <a:tc>
                  <a:txBody>
                    <a:bodyPr/>
                    <a:lstStyle/>
                    <a:p>
                      <a:pPr indent="0" marL="0">
                        <a:buNone/>
                      </a:pPr>
                      <a:r>
                        <a:rPr lang="en-US" sz="1300" dirty="0">
                          <a:solidFill>
                            <a:srgbClr val="E4E4E7"/>
                          </a:solidFill>
                          <a:latin typeface="Calibri" pitchFamily="34" charset="0"/>
                          <a:ea typeface="Calibri" pitchFamily="34" charset="-122"/>
                          <a:cs typeface="Calibri" pitchFamily="34" charset="-120"/>
                        </a:rPr>
                        <a:t>Innebygd i protokollen, en brøkdel av et øre å utstede. Designet som billetter, gjenstander og identitet, ikke et marked.</a:t>
                      </a:r>
                      <a:endParaRPr lang="en-US" sz="1300" dirty="0">
                        <a:latin typeface="Calibri" charset="0"/>
                        <a:ea typeface="Calibri" charset="0"/>
                        <a:cs typeface="Calibri" charset="0"/>
                      </a:endParaRPr>
                    </a:p>
                  </a:txBody>
                  <a:tcPr marL="101600" marR="101600" marT="76200" marB="76200" anchor="ctr">
                    <a:lnL w="25400" cap="flat" cmpd="sng" algn="ctr">
                      <a:solidFill>
                        <a:srgbClr val="0A0A0F"/>
                      </a:solidFill>
                      <a:prstDash val="solid"/>
                      <a:round/>
                      <a:headEnd type="none" w="med" len="med"/>
                      <a:tailEnd type="none" w="med" len="med"/>
                    </a:lnL>
                    <a:lnR w="25400" cap="flat" cmpd="sng" algn="ctr">
                      <a:solidFill>
                        <a:srgbClr val="0A0A0F"/>
                      </a:solidFill>
                      <a:prstDash val="solid"/>
                      <a:round/>
                      <a:headEnd type="none" w="med" len="med"/>
                      <a:tailEnd type="none" w="med" len="med"/>
                    </a:lnR>
                    <a:lnT w="25400" cap="flat" cmpd="sng" algn="ctr">
                      <a:solidFill>
                        <a:srgbClr val="0A0A0F"/>
                      </a:solidFill>
                      <a:prstDash val="solid"/>
                      <a:round/>
                      <a:headEnd type="none" w="med" len="med"/>
                      <a:tailEnd type="none" w="med" len="med"/>
                    </a:lnT>
                    <a:lnB w="25400" cap="flat" cmpd="sng" algn="ctr">
                      <a:solidFill>
                        <a:srgbClr val="0A0A0F"/>
                      </a:solidFill>
                      <a:prstDash val="solid"/>
                      <a:round/>
                      <a:headEnd type="none" w="med" len="med"/>
                      <a:tailEnd type="none" w="med" len="med"/>
                    </a:lnB>
                    <a:solidFill>
                      <a:srgbClr val="26210F"/>
                    </a:solidFill>
                  </a:tcPr>
                </a:tc>
              </a:tr>
            </a:tbl>
          </a:graphicData>
        </a:graphic>
      </p:graphicFrame>
      <p:pic>
        <p:nvPicPr>
          <p:cNvPr id="5" name="Image 0" descr="preencoded.png">    </p:cNvPr>
          <p:cNvPicPr>
            <a:picLocks noChangeAspect="1"/>
          </p:cNvPicPr>
          <p:nvPr/>
        </p:nvPicPr>
        <p:blipFill>
          <a:blip r:embed="rId1"/>
          <a:stretch>
            <a:fillRect/>
          </a:stretch>
        </p:blipFill>
        <p:spPr>
          <a:xfrm>
            <a:off x="548640" y="6355080"/>
            <a:ext cx="256032" cy="246888"/>
          </a:xfrm>
          <a:prstGeom prst="rect">
            <a:avLst/>
          </a:prstGeom>
        </p:spPr>
      </p:pic>
      <p:sp>
        <p:nvSpPr>
          <p:cNvPr id="6" name="Text 1"/>
          <p:cNvSpPr txBox="1"/>
          <p:nvPr/>
        </p:nvSpPr>
        <p:spPr>
          <a:xfrm>
            <a:off x="877824" y="6400800"/>
            <a:ext cx="2743200" cy="274320"/>
          </a:xfrm>
          <a:prstGeom prst="rect">
            <a:avLst/>
          </a:prstGeom>
          <a:noFill/>
          <a:ln/>
        </p:spPr>
        <p:txBody>
          <a:bodyPr wrap="square" lIns="0" tIns="0" rIns="0" bIns="0" rtlCol="0" anchor="ctr"/>
          <a:lstStyle/>
          <a:p>
            <a:pPr algn="l" indent="0" marL="0">
              <a:buNone/>
            </a:pPr>
            <a:r>
              <a:rPr lang="en-US" sz="1000" dirty="0">
                <a:solidFill>
                  <a:srgbClr val="A1A1AA"/>
                </a:solidFill>
                <a:latin typeface="Calibri" pitchFamily="34" charset="0"/>
                <a:ea typeface="Calibri" pitchFamily="34" charset="-122"/>
                <a:cs typeface="Calibri" pitchFamily="34" charset="-120"/>
              </a:rPr>
              <a:t>Nexa · 2026</a:t>
            </a:r>
            <a:endParaRPr lang="en-US" sz="1000" dirty="0"/>
          </a:p>
        </p:txBody>
      </p:sp>
      <p:sp>
        <p:nvSpPr>
          <p:cNvPr id="7" name="Text 2"/>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A1A1AA"/>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A0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1005840"/>
          </a:xfrm>
          <a:prstGeom prst="rect">
            <a:avLst/>
          </a:prstGeom>
          <a:noFill/>
          <a:ln/>
        </p:spPr>
        <p:txBody>
          <a:bodyPr wrap="square" lIns="0" tIns="0" rIns="0" bIns="0" rtlCol="0" anchor="t"/>
          <a:lstStyle/>
          <a:p>
            <a:pPr algn="l" indent="0" marL="0">
              <a:buNone/>
            </a:pPr>
            <a:r>
              <a:rPr lang="en-US" sz="3000" b="1" dirty="0">
                <a:solidFill>
                  <a:srgbClr val="FFFFFF"/>
                </a:solidFill>
                <a:latin typeface="Calibri" pitchFamily="34" charset="0"/>
                <a:ea typeface="Calibri" pitchFamily="34" charset="-122"/>
                <a:cs typeface="Calibri" pitchFamily="34" charset="-120"/>
              </a:rPr>
              <a:t>Tre ting å huske</a:t>
            </a:r>
            <a:endParaRPr lang="en-US" sz="3000" dirty="0"/>
          </a:p>
        </p:txBody>
      </p:sp>
      <p:sp>
        <p:nvSpPr>
          <p:cNvPr id="3" name="Shape 1"/>
          <p:cNvSpPr/>
          <p:nvPr/>
        </p:nvSpPr>
        <p:spPr>
          <a:xfrm>
            <a:off x="548640" y="1691640"/>
            <a:ext cx="3515258" cy="3566160"/>
          </a:xfrm>
          <a:prstGeom prst="roundRect">
            <a:avLst>
              <a:gd name="adj" fmla="val 3121"/>
            </a:avLst>
          </a:prstGeom>
          <a:solidFill>
            <a:srgbClr val="18181B"/>
          </a:solidFill>
          <a:ln w="9525">
            <a:solidFill>
              <a:srgbClr val="2E2E35"/>
            </a:solidFill>
            <a:prstDash val="solid"/>
          </a:ln>
        </p:spPr>
      </p:sp>
      <p:sp>
        <p:nvSpPr>
          <p:cNvPr id="4" name="Shape 2"/>
          <p:cNvSpPr/>
          <p:nvPr/>
        </p:nvSpPr>
        <p:spPr>
          <a:xfrm>
            <a:off x="822960" y="1965960"/>
            <a:ext cx="640080" cy="640080"/>
          </a:xfrm>
          <a:prstGeom prst="ellipse">
            <a:avLst/>
          </a:prstGeom>
          <a:solidFill>
            <a:srgbClr val="F2CD3A"/>
          </a:solidFill>
          <a:ln w="12700">
            <a:solidFill>
              <a:srgbClr val="F2CD3A"/>
            </a:solidFill>
            <a:prstDash val="solid"/>
          </a:ln>
        </p:spPr>
      </p:sp>
      <p:pic>
        <p:nvPicPr>
          <p:cNvPr id="5" name="Image 0" descr="preencoded.png">    </p:cNvPr>
          <p:cNvPicPr>
            <a:picLocks noChangeAspect="1"/>
          </p:cNvPicPr>
          <p:nvPr/>
        </p:nvPicPr>
        <p:blipFill>
          <a:blip r:embed="rId1"/>
          <a:stretch>
            <a:fillRect/>
          </a:stretch>
        </p:blipFill>
        <p:spPr>
          <a:xfrm>
            <a:off x="976579" y="2119579"/>
            <a:ext cx="332842" cy="332842"/>
          </a:xfrm>
          <a:prstGeom prst="rect">
            <a:avLst/>
          </a:prstGeom>
        </p:spPr>
      </p:pic>
      <p:sp>
        <p:nvSpPr>
          <p:cNvPr id="6" name="Text 3"/>
          <p:cNvSpPr txBox="1"/>
          <p:nvPr/>
        </p:nvSpPr>
        <p:spPr>
          <a:xfrm>
            <a:off x="822960" y="2788920"/>
            <a:ext cx="2966618" cy="457200"/>
          </a:xfrm>
          <a:prstGeom prst="rect">
            <a:avLst/>
          </a:prstGeom>
          <a:noFill/>
          <a:ln/>
        </p:spPr>
        <p:txBody>
          <a:bodyPr wrap="square" lIns="0" tIns="0" rIns="0" bIns="0" rtlCol="0" anchor="t"/>
          <a:lstStyle/>
          <a:p>
            <a:pPr indent="0" marL="0">
              <a:buNone/>
            </a:pPr>
            <a:r>
              <a:rPr lang="en-US" sz="2000" b="1" dirty="0">
                <a:solidFill>
                  <a:srgbClr val="F2CD3A"/>
                </a:solidFill>
                <a:latin typeface="Calibri" pitchFamily="34" charset="0"/>
                <a:ea typeface="Calibri" pitchFamily="34" charset="-122"/>
                <a:cs typeface="Calibri" pitchFamily="34" charset="-120"/>
              </a:rPr>
              <a:t>Energi</a:t>
            </a:r>
            <a:endParaRPr lang="en-US" sz="2000" dirty="0"/>
          </a:p>
        </p:txBody>
      </p:sp>
      <p:sp>
        <p:nvSpPr>
          <p:cNvPr id="7" name="Text 4"/>
          <p:cNvSpPr txBox="1"/>
          <p:nvPr/>
        </p:nvSpPr>
        <p:spPr>
          <a:xfrm>
            <a:off x="822960" y="3337560"/>
            <a:ext cx="2966618" cy="1645920"/>
          </a:xfrm>
          <a:prstGeom prst="rect">
            <a:avLst/>
          </a:prstGeom>
          <a:noFill/>
          <a:ln/>
        </p:spPr>
        <p:txBody>
          <a:bodyPr wrap="square" lIns="0" tIns="0" rIns="0" bIns="0" rtlCol="0" anchor="t"/>
          <a:lstStyle/>
          <a:p>
            <a:pPr indent="0" marL="0">
              <a:buNone/>
            </a:pPr>
            <a:r>
              <a:rPr lang="en-US" sz="1500" dirty="0">
                <a:solidFill>
                  <a:srgbClr val="E4E4E7"/>
                </a:solidFill>
                <a:latin typeface="Calibri" pitchFamily="34" charset="0"/>
                <a:ea typeface="Calibri" pitchFamily="34" charset="-122"/>
                <a:cs typeface="Calibri" pitchFamily="34" charset="-120"/>
              </a:rPr>
              <a:t>Proof of work koster det minerne får betalt, på enhver kjede. I stor skala får Nexa inntil 13 000× flere transaksjoner ut av hver kilowattime enn Bitcoin, på gjenbrukbare GPU-er, ikke ASIC-er som kastes.</a:t>
            </a:r>
            <a:endParaRPr lang="en-US" sz="1500" dirty="0"/>
          </a:p>
        </p:txBody>
      </p:sp>
      <p:sp>
        <p:nvSpPr>
          <p:cNvPr id="8" name="Shape 5"/>
          <p:cNvSpPr/>
          <p:nvPr/>
        </p:nvSpPr>
        <p:spPr>
          <a:xfrm>
            <a:off x="4338218" y="1691640"/>
            <a:ext cx="3515258" cy="3566160"/>
          </a:xfrm>
          <a:prstGeom prst="roundRect">
            <a:avLst>
              <a:gd name="adj" fmla="val 3121"/>
            </a:avLst>
          </a:prstGeom>
          <a:solidFill>
            <a:srgbClr val="18181B"/>
          </a:solidFill>
          <a:ln w="9525">
            <a:solidFill>
              <a:srgbClr val="2E2E35"/>
            </a:solidFill>
            <a:prstDash val="solid"/>
          </a:ln>
        </p:spPr>
      </p:sp>
      <p:sp>
        <p:nvSpPr>
          <p:cNvPr id="9" name="Shape 6"/>
          <p:cNvSpPr/>
          <p:nvPr/>
        </p:nvSpPr>
        <p:spPr>
          <a:xfrm>
            <a:off x="4612538" y="1965960"/>
            <a:ext cx="640080" cy="640080"/>
          </a:xfrm>
          <a:prstGeom prst="ellipse">
            <a:avLst/>
          </a:prstGeom>
          <a:solidFill>
            <a:srgbClr val="F2CD3A"/>
          </a:solidFill>
          <a:ln w="12700">
            <a:solidFill>
              <a:srgbClr val="F2CD3A"/>
            </a:solidFill>
            <a:prstDash val="solid"/>
          </a:ln>
        </p:spPr>
      </p:sp>
      <p:pic>
        <p:nvPicPr>
          <p:cNvPr id="10" name="Image 1" descr="preencoded.png">    </p:cNvPr>
          <p:cNvPicPr>
            <a:picLocks noChangeAspect="1"/>
          </p:cNvPicPr>
          <p:nvPr/>
        </p:nvPicPr>
        <p:blipFill>
          <a:blip r:embed="rId2"/>
          <a:stretch>
            <a:fillRect/>
          </a:stretch>
        </p:blipFill>
        <p:spPr>
          <a:xfrm>
            <a:off x="4766158" y="2119579"/>
            <a:ext cx="332842" cy="332842"/>
          </a:xfrm>
          <a:prstGeom prst="rect">
            <a:avLst/>
          </a:prstGeom>
        </p:spPr>
      </p:pic>
      <p:sp>
        <p:nvSpPr>
          <p:cNvPr id="11" name="Text 7"/>
          <p:cNvSpPr txBox="1"/>
          <p:nvPr/>
        </p:nvSpPr>
        <p:spPr>
          <a:xfrm>
            <a:off x="4612538" y="2788920"/>
            <a:ext cx="2966618" cy="457200"/>
          </a:xfrm>
          <a:prstGeom prst="rect">
            <a:avLst/>
          </a:prstGeom>
          <a:noFill/>
          <a:ln/>
        </p:spPr>
        <p:txBody>
          <a:bodyPr wrap="square" lIns="0" tIns="0" rIns="0" bIns="0" rtlCol="0" anchor="t"/>
          <a:lstStyle/>
          <a:p>
            <a:pPr indent="0" marL="0">
              <a:buNone/>
            </a:pPr>
            <a:r>
              <a:rPr lang="en-US" sz="2000" b="1" dirty="0">
                <a:solidFill>
                  <a:srgbClr val="F2CD3A"/>
                </a:solidFill>
                <a:latin typeface="Calibri" pitchFamily="34" charset="0"/>
                <a:ea typeface="Calibri" pitchFamily="34" charset="-122"/>
                <a:cs typeface="Calibri" pitchFamily="34" charset="-120"/>
              </a:rPr>
              <a:t>Rettferdighet</a:t>
            </a:r>
            <a:endParaRPr lang="en-US" sz="2000" dirty="0"/>
          </a:p>
        </p:txBody>
      </p:sp>
      <p:sp>
        <p:nvSpPr>
          <p:cNvPr id="12" name="Text 8"/>
          <p:cNvSpPr txBox="1"/>
          <p:nvPr/>
        </p:nvSpPr>
        <p:spPr>
          <a:xfrm>
            <a:off x="4612538" y="3337560"/>
            <a:ext cx="2966618" cy="1645920"/>
          </a:xfrm>
          <a:prstGeom prst="rect">
            <a:avLst/>
          </a:prstGeom>
          <a:noFill/>
          <a:ln/>
        </p:spPr>
        <p:txBody>
          <a:bodyPr wrap="square" lIns="0" tIns="0" rIns="0" bIns="0" rtlCol="0" anchor="t"/>
          <a:lstStyle/>
          <a:p>
            <a:pPr indent="0" marL="0">
              <a:buNone/>
            </a:pPr>
            <a:r>
              <a:rPr lang="en-US" sz="1500" dirty="0">
                <a:solidFill>
                  <a:srgbClr val="E4E4E7"/>
                </a:solidFill>
                <a:latin typeface="Calibri" pitchFamily="34" charset="0"/>
                <a:ea typeface="Calibri" pitchFamily="34" charset="-122"/>
                <a:cs typeface="Calibri" pitchFamily="34" charset="-120"/>
              </a:rPr>
              <a:t>Ingen premine, ingen ICO, ingen venturekapital. 100 % av tilbudet utvunnet offentlig siden 2022, åpent for alle med et skjermkort.</a:t>
            </a:r>
            <a:endParaRPr lang="en-US" sz="1500" dirty="0"/>
          </a:p>
        </p:txBody>
      </p:sp>
      <p:sp>
        <p:nvSpPr>
          <p:cNvPr id="13" name="Shape 9"/>
          <p:cNvSpPr/>
          <p:nvPr/>
        </p:nvSpPr>
        <p:spPr>
          <a:xfrm>
            <a:off x="8127797" y="1691640"/>
            <a:ext cx="3515258" cy="3566160"/>
          </a:xfrm>
          <a:prstGeom prst="roundRect">
            <a:avLst>
              <a:gd name="adj" fmla="val 3121"/>
            </a:avLst>
          </a:prstGeom>
          <a:solidFill>
            <a:srgbClr val="18181B"/>
          </a:solidFill>
          <a:ln w="9525">
            <a:solidFill>
              <a:srgbClr val="2E2E35"/>
            </a:solidFill>
            <a:prstDash val="solid"/>
          </a:ln>
        </p:spPr>
      </p:sp>
      <p:sp>
        <p:nvSpPr>
          <p:cNvPr id="14" name="Shape 10"/>
          <p:cNvSpPr/>
          <p:nvPr/>
        </p:nvSpPr>
        <p:spPr>
          <a:xfrm>
            <a:off x="8402117" y="1965960"/>
            <a:ext cx="640080" cy="640080"/>
          </a:xfrm>
          <a:prstGeom prst="ellipse">
            <a:avLst/>
          </a:prstGeom>
          <a:solidFill>
            <a:srgbClr val="F2CD3A"/>
          </a:solidFill>
          <a:ln w="12700">
            <a:solidFill>
              <a:srgbClr val="F2CD3A"/>
            </a:solidFill>
            <a:prstDash val="solid"/>
          </a:ln>
        </p:spPr>
      </p:sp>
      <p:pic>
        <p:nvPicPr>
          <p:cNvPr id="15" name="Image 2" descr="preencoded.png">    </p:cNvPr>
          <p:cNvPicPr>
            <a:picLocks noChangeAspect="1"/>
          </p:cNvPicPr>
          <p:nvPr/>
        </p:nvPicPr>
        <p:blipFill>
          <a:blip r:embed="rId3"/>
          <a:stretch>
            <a:fillRect/>
          </a:stretch>
        </p:blipFill>
        <p:spPr>
          <a:xfrm>
            <a:off x="8555736" y="2119579"/>
            <a:ext cx="332842" cy="332842"/>
          </a:xfrm>
          <a:prstGeom prst="rect">
            <a:avLst/>
          </a:prstGeom>
        </p:spPr>
      </p:pic>
      <p:sp>
        <p:nvSpPr>
          <p:cNvPr id="16" name="Text 11"/>
          <p:cNvSpPr txBox="1"/>
          <p:nvPr/>
        </p:nvSpPr>
        <p:spPr>
          <a:xfrm>
            <a:off x="8402117" y="2788920"/>
            <a:ext cx="2966618" cy="457200"/>
          </a:xfrm>
          <a:prstGeom prst="rect">
            <a:avLst/>
          </a:prstGeom>
          <a:noFill/>
          <a:ln/>
        </p:spPr>
        <p:txBody>
          <a:bodyPr wrap="square" lIns="0" tIns="0" rIns="0" bIns="0" rtlCol="0" anchor="t"/>
          <a:lstStyle/>
          <a:p>
            <a:pPr indent="0" marL="0">
              <a:buNone/>
            </a:pPr>
            <a:r>
              <a:rPr lang="en-US" sz="2000" b="1" dirty="0">
                <a:solidFill>
                  <a:srgbClr val="F2CD3A"/>
                </a:solidFill>
                <a:latin typeface="Calibri" pitchFamily="34" charset="0"/>
                <a:ea typeface="Calibri" pitchFamily="34" charset="-122"/>
                <a:cs typeface="Calibri" pitchFamily="34" charset="-120"/>
              </a:rPr>
              <a:t>Nytte</a:t>
            </a:r>
            <a:endParaRPr lang="en-US" sz="2000" dirty="0"/>
          </a:p>
        </p:txBody>
      </p:sp>
      <p:sp>
        <p:nvSpPr>
          <p:cNvPr id="17" name="Text 12"/>
          <p:cNvSpPr txBox="1"/>
          <p:nvPr/>
        </p:nvSpPr>
        <p:spPr>
          <a:xfrm>
            <a:off x="8402117" y="3337560"/>
            <a:ext cx="2966618" cy="1645920"/>
          </a:xfrm>
          <a:prstGeom prst="rect">
            <a:avLst/>
          </a:prstGeom>
          <a:noFill/>
          <a:ln/>
        </p:spPr>
        <p:txBody>
          <a:bodyPr wrap="square" lIns="0" tIns="0" rIns="0" bIns="0" rtlCol="0" anchor="t"/>
          <a:lstStyle/>
          <a:p>
            <a:pPr indent="0" marL="0">
              <a:buNone/>
            </a:pPr>
            <a:r>
              <a:rPr lang="en-US" sz="1500" dirty="0">
                <a:solidFill>
                  <a:srgbClr val="E4E4E7"/>
                </a:solidFill>
                <a:latin typeface="Calibri" pitchFamily="34" charset="0"/>
                <a:ea typeface="Calibri" pitchFamily="34" charset="-122"/>
                <a:cs typeface="Calibri" pitchFamily="34" charset="-120"/>
              </a:rPr>
              <a:t>Betalinger på to sekunder for under et øre og protokoll-innebygde tokens for spill, billetter og identitet. Bygget for bruk, ikke for spekulasjon.</a:t>
            </a:r>
            <a:endParaRPr lang="en-US" sz="1500" dirty="0"/>
          </a:p>
        </p:txBody>
      </p:sp>
      <p:sp>
        <p:nvSpPr>
          <p:cNvPr id="18" name="Text 13"/>
          <p:cNvSpPr txBox="1"/>
          <p:nvPr/>
        </p:nvSpPr>
        <p:spPr>
          <a:xfrm>
            <a:off x="548640" y="5486400"/>
            <a:ext cx="11094415" cy="731520"/>
          </a:xfrm>
          <a:prstGeom prst="rect">
            <a:avLst/>
          </a:prstGeom>
          <a:noFill/>
          <a:ln/>
        </p:spPr>
        <p:txBody>
          <a:bodyPr wrap="square" lIns="0" tIns="0" rIns="0" bIns="0" rtlCol="0" anchor="ctr"/>
          <a:lstStyle/>
          <a:p>
            <a:pPr indent="0" marL="0">
              <a:buNone/>
            </a:pPr>
            <a:r>
              <a:rPr lang="en-US" sz="1100" dirty="0">
                <a:solidFill>
                  <a:srgbClr val="A1A1AA"/>
                </a:solidFill>
                <a:latin typeface="Calibri" pitchFamily="34" charset="0"/>
                <a:ea typeface="Calibri" pitchFamily="34" charset="-122"/>
                <a:cs typeface="Calibri" pitchFamily="34" charset="-120"/>
              </a:rPr>
              <a:t>Kilder: Cambridge CBECI (2026) · de Vries &amp; Stoll, Bitcoin's growing e-waste problem (2021) · ethereum.org · nexa.org og spec.nexa.org · Statistisk sentralbyrå (SSB) · Regjeringens datasenterregulering (juni 2025) · NTNU: Borgelt m.fl. (2026), Hertwich m.fl. (2014), HighEFF (2024) · jqrgen.medium.com (sept. 2026)</a:t>
            </a:r>
            <a:endParaRPr lang="en-US" sz="1100" dirty="0"/>
          </a:p>
        </p:txBody>
      </p:sp>
      <p:pic>
        <p:nvPicPr>
          <p:cNvPr id="20" name="Image 3" descr="preencoded.png">    </p:cNvPr>
          <p:cNvPicPr>
            <a:picLocks noChangeAspect="1"/>
          </p:cNvPicPr>
          <p:nvPr/>
        </p:nvPicPr>
        <p:blipFill>
          <a:blip r:embed="rId4"/>
          <a:stretch>
            <a:fillRect/>
          </a:stretch>
        </p:blipFill>
        <p:spPr>
          <a:xfrm>
            <a:off x="548640" y="6355080"/>
            <a:ext cx="256032" cy="246888"/>
          </a:xfrm>
          <a:prstGeom prst="rect">
            <a:avLst/>
          </a:prstGeom>
        </p:spPr>
      </p:pic>
      <p:sp>
        <p:nvSpPr>
          <p:cNvPr id="21" name="Text 14"/>
          <p:cNvSpPr txBox="1"/>
          <p:nvPr/>
        </p:nvSpPr>
        <p:spPr>
          <a:xfrm>
            <a:off x="877824" y="6400800"/>
            <a:ext cx="2743200" cy="274320"/>
          </a:xfrm>
          <a:prstGeom prst="rect">
            <a:avLst/>
          </a:prstGeom>
          <a:noFill/>
          <a:ln/>
        </p:spPr>
        <p:txBody>
          <a:bodyPr wrap="square" lIns="0" tIns="0" rIns="0" bIns="0" rtlCol="0" anchor="ctr"/>
          <a:lstStyle/>
          <a:p>
            <a:pPr algn="l" indent="0" marL="0">
              <a:buNone/>
            </a:pPr>
            <a:r>
              <a:rPr lang="en-US" sz="1000" dirty="0">
                <a:solidFill>
                  <a:srgbClr val="A1A1AA"/>
                </a:solidFill>
                <a:latin typeface="Calibri" pitchFamily="34" charset="0"/>
                <a:ea typeface="Calibri" pitchFamily="34" charset="-122"/>
                <a:cs typeface="Calibri" pitchFamily="34" charset="-120"/>
              </a:rPr>
              <a:t>Nexa · 2026</a:t>
            </a:r>
            <a:endParaRPr lang="en-US" sz="1000" dirty="0"/>
          </a:p>
        </p:txBody>
      </p:sp>
      <p:sp>
        <p:nvSpPr>
          <p:cNvPr id="22" name="Text 15"/>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A1A1AA"/>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Nexa mot Bitcoin og Ethereum</dc:title>
  <dc:subject>PptxGenJS Presentation</dc:subject>
  <dc:creator>Nexa</dc:creator>
  <cp:lastModifiedBy>Nexa</cp:lastModifiedBy>
  <cp:revision>1</cp:revision>
  <dcterms:created xsi:type="dcterms:W3CDTF">2026-09-14T23:48:45Z</dcterms:created>
  <dcterms:modified xsi:type="dcterms:W3CDTF">2026-09-14T23:48:45Z</dcterms:modified>
</cp:coreProperties>
</file>